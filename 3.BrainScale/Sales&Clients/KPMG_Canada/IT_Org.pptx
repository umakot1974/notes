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1" r:id="rId7"/>
    <p:sldId id="265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53"/>
  </p:normalViewPr>
  <p:slideViewPr>
    <p:cSldViewPr snapToGrid="0" snapToObjects="1">
      <p:cViewPr varScale="1">
        <p:scale>
          <a:sx n="95" d="100"/>
          <a:sy n="95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1262-8259-F44A-AAA3-525C2B36E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781AF-3754-3442-B9D7-F64E1C21C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0D639-83F3-1543-930A-8EB9039E4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B1743-59B3-5D4C-AE52-DD35BB1F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A03BD-ED80-744A-962E-0609763B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8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5C6D-9704-CC41-8971-B8627600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586C8-88FC-6C4E-A058-7C867779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84522-A766-F143-B5C9-61F07DEC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9304B-4883-9F46-A492-A4506B1F3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D1C7C-E256-044E-AEE7-B1C29432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2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F31B-7EBD-A943-A0F7-F9BEF1DE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5C131-972C-D144-ABDD-2097784A3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0C17-B034-EB46-A4AE-3F986DAA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54E77-584D-5444-BD53-DF37FC27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AF085-C20C-184B-BEFC-7A68ECB4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2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125E-2BCC-384D-A489-CDE810B1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20E0E-68BF-F742-8156-4B2BD68B2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A1C5E-0B27-A54E-9C73-AEDFD0FE3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A1B42-8D2F-CC43-AE95-148E9047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7C25F-33C3-E54B-AE64-E8248107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A18BA-91FD-CE45-A5F9-08CACE9C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8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D8DD-ABD5-DB42-A137-47EC8A68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3C012-1923-F946-A9C3-D1F15FA6B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7779C-C03E-0E40-8ECB-76970DACE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386AC-168B-754D-8AC3-79CB5A98F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5A3D9-B279-EF42-B1C9-5E4A3F719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CA2F19-1CE5-964E-B263-5D3BCF7B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E4A89B-47BA-7348-8077-47EAAEA5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4FD23-D21A-2C4D-B07C-50797355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5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C506-65D5-7849-9C8C-C3E231B3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9B066-E494-CC4B-B62D-F6C86BF8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70066-B1AD-8242-ADE1-D4BCD0FE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005A1-1326-414E-B268-89DCFCB5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4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BC144-73AC-4D42-95DE-ABD907E5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B0196E-CD82-0A4A-AEED-ABBF1484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AF793-C7F8-3A43-A70A-DCFE4319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CA8E-3BFD-D040-874B-CD0451A3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3705C-9B30-CC40-9D1D-DF8137BE8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E0C16-5274-174C-8A87-C83D8C422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6FB77-C2D7-194B-9375-C36BB459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92DB1-7113-184D-BCC2-AC1268C3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E12C3-7E79-4246-9F2A-7DC0D2BE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0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C5E3-AC1C-1C44-A620-58B2464C5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F91EB-4D09-7342-9EA2-9F10B5675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1B053-CBB1-7444-8065-DF52B3140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B8507-B233-6B44-8F8D-AA389EE0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5E030-2C1E-E942-9BAD-FBE69F80A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77EBB-FBFF-D64A-A0E8-71429F842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3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3DDA-8259-4C47-AC19-5C4C41FB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3F995-17C9-084D-9250-4E8879BEB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FD0D8-54BF-1D4B-B276-B45AD63C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7E03A-B652-9F4A-9B7E-CB75BB2F5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E0CE4-E206-954B-8789-2DF88B97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A938C3-3B64-5143-A6C5-751872269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0320C-5C01-1041-B9C6-7BDB7911A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6F5BD-06BD-DD46-BB0D-573CA5FFA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E1B3-0EAE-9E40-A9CF-CDCE8CFE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E518E-A8CF-3044-A00A-CA316B34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1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2845B6-0227-FA4A-B0D5-B0CB0DE7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CFD9B-8DDE-1347-99A8-30E14998A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8575-0D28-B943-8435-ADE3C330F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965CC-30EF-0247-988A-CE82276D350A}" type="datetimeFigureOut">
              <a:rPr lang="en-US" smtClean="0"/>
              <a:t>3/4/20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3F43-3B3E-5B4D-9F37-97D814576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A277F-86B5-714E-9297-DCDDB271E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21621-36E2-CB48-9456-A9A0934A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9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3524-7A8D-D149-89B3-E62B71153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Organization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CE8BF-0E71-434F-8DF4-2DE59E797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5106"/>
            <a:ext cx="9144000" cy="712694"/>
          </a:xfrm>
        </p:spPr>
        <p:txBody>
          <a:bodyPr/>
          <a:lstStyle/>
          <a:p>
            <a:r>
              <a:rPr lang="en-US" dirty="0"/>
              <a:t>Discussion Document</a:t>
            </a:r>
          </a:p>
        </p:txBody>
      </p:sp>
    </p:spTree>
    <p:extLst>
      <p:ext uri="{BB962C8B-B14F-4D97-AF65-F5344CB8AC3E}">
        <p14:creationId xmlns:p14="http://schemas.microsoft.com/office/powerpoint/2010/main" val="351973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/>
              <a:t>Alignment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E2DC69-D226-F741-B0F3-107CB835EC35}"/>
              </a:ext>
            </a:extLst>
          </p:cNvPr>
          <p:cNvSpPr/>
          <p:nvPr/>
        </p:nvSpPr>
        <p:spPr>
          <a:xfrm>
            <a:off x="1089211" y="2261160"/>
            <a:ext cx="2034987" cy="1625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Biz Strategy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B706F5-16C4-8F45-A90E-A0F64B709710}"/>
              </a:ext>
            </a:extLst>
          </p:cNvPr>
          <p:cNvSpPr/>
          <p:nvPr/>
        </p:nvSpPr>
        <p:spPr>
          <a:xfrm>
            <a:off x="4613462" y="2261160"/>
            <a:ext cx="2034987" cy="1625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Portfolio Strategy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D6791D-049B-C54E-AD73-4276BDB031E1}"/>
              </a:ext>
            </a:extLst>
          </p:cNvPr>
          <p:cNvSpPr/>
          <p:nvPr/>
        </p:nvSpPr>
        <p:spPr>
          <a:xfrm>
            <a:off x="8263219" y="2200834"/>
            <a:ext cx="2034987" cy="1625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Operating Model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073C31B2-F4E8-0D4D-8DBB-A4B292E6024A}"/>
              </a:ext>
            </a:extLst>
          </p:cNvPr>
          <p:cNvSpPr/>
          <p:nvPr/>
        </p:nvSpPr>
        <p:spPr>
          <a:xfrm>
            <a:off x="3550024" y="2959566"/>
            <a:ext cx="779929" cy="28117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AFA1105-8D86-314B-86BD-F95F304F223F}"/>
              </a:ext>
            </a:extLst>
          </p:cNvPr>
          <p:cNvSpPr/>
          <p:nvPr/>
        </p:nvSpPr>
        <p:spPr>
          <a:xfrm>
            <a:off x="7065869" y="2919225"/>
            <a:ext cx="779929" cy="28117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893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/>
              <a:t>Alignment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421B143D-EA14-5F44-86D1-65802F02BB30}"/>
              </a:ext>
            </a:extLst>
          </p:cNvPr>
          <p:cNvSpPr/>
          <p:nvPr/>
        </p:nvSpPr>
        <p:spPr>
          <a:xfrm>
            <a:off x="1573305" y="1411941"/>
            <a:ext cx="6790765" cy="485438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7D4E56-8C0D-EE4C-9F45-E8C78228C317}"/>
              </a:ext>
            </a:extLst>
          </p:cNvPr>
          <p:cNvCxnSpPr>
            <a:cxnSpLocks/>
          </p:cNvCxnSpPr>
          <p:nvPr/>
        </p:nvCxnSpPr>
        <p:spPr>
          <a:xfrm>
            <a:off x="2312894" y="5197705"/>
            <a:ext cx="529814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0BDB27C-8AB3-BB4A-B916-9DFDE8E998FB}"/>
              </a:ext>
            </a:extLst>
          </p:cNvPr>
          <p:cNvCxnSpPr>
            <a:cxnSpLocks/>
          </p:cNvCxnSpPr>
          <p:nvPr/>
        </p:nvCxnSpPr>
        <p:spPr>
          <a:xfrm>
            <a:off x="3079376" y="4157418"/>
            <a:ext cx="38055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AB0794-6394-BB4C-8C25-0BFB8EB56AB5}"/>
              </a:ext>
            </a:extLst>
          </p:cNvPr>
          <p:cNvCxnSpPr>
            <a:cxnSpLocks/>
          </p:cNvCxnSpPr>
          <p:nvPr/>
        </p:nvCxnSpPr>
        <p:spPr>
          <a:xfrm flipV="1">
            <a:off x="3644153" y="3341935"/>
            <a:ext cx="2716306" cy="11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6FD33FE-2457-B747-954A-06B6638A0C9A}"/>
              </a:ext>
            </a:extLst>
          </p:cNvPr>
          <p:cNvSpPr txBox="1"/>
          <p:nvPr/>
        </p:nvSpPr>
        <p:spPr>
          <a:xfrm>
            <a:off x="4645065" y="2123668"/>
            <a:ext cx="1021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Vision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EEB80C-737A-DB4A-996C-364E868C8342}"/>
              </a:ext>
            </a:extLst>
          </p:cNvPr>
          <p:cNvSpPr txBox="1"/>
          <p:nvPr/>
        </p:nvSpPr>
        <p:spPr>
          <a:xfrm>
            <a:off x="3875224" y="3649589"/>
            <a:ext cx="2173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dirty="0"/>
              <a:t>Org Strategy, Objectives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E83F448-69B3-554A-BA66-FB94E52C6A02}"/>
              </a:ext>
            </a:extLst>
          </p:cNvPr>
          <p:cNvCxnSpPr>
            <a:cxnSpLocks/>
          </p:cNvCxnSpPr>
          <p:nvPr/>
        </p:nvCxnSpPr>
        <p:spPr>
          <a:xfrm>
            <a:off x="4982132" y="4182428"/>
            <a:ext cx="13449" cy="1015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CD61546-64D6-6B4E-9394-3C0498AEA39B}"/>
              </a:ext>
            </a:extLst>
          </p:cNvPr>
          <p:cNvSpPr txBox="1"/>
          <p:nvPr/>
        </p:nvSpPr>
        <p:spPr>
          <a:xfrm>
            <a:off x="3458363" y="4606011"/>
            <a:ext cx="1402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dirty="0"/>
              <a:t>Ops Planning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4D9B7F-19DC-EC41-9BBF-835E11BB3F09}"/>
              </a:ext>
            </a:extLst>
          </p:cNvPr>
          <p:cNvSpPr txBox="1"/>
          <p:nvPr/>
        </p:nvSpPr>
        <p:spPr>
          <a:xfrm>
            <a:off x="5156054" y="4444842"/>
            <a:ext cx="1402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dirty="0"/>
              <a:t>Portfolio Management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0407B2C-1FD8-E244-9EBF-AC728C2C1640}"/>
              </a:ext>
            </a:extLst>
          </p:cNvPr>
          <p:cNvCxnSpPr>
            <a:cxnSpLocks/>
          </p:cNvCxnSpPr>
          <p:nvPr/>
        </p:nvCxnSpPr>
        <p:spPr>
          <a:xfrm>
            <a:off x="4047565" y="2697556"/>
            <a:ext cx="1809860" cy="3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2CE6BB7-1099-224A-8E88-2D12EAAD74AA}"/>
              </a:ext>
            </a:extLst>
          </p:cNvPr>
          <p:cNvSpPr txBox="1"/>
          <p:nvPr/>
        </p:nvSpPr>
        <p:spPr>
          <a:xfrm>
            <a:off x="4484593" y="2838347"/>
            <a:ext cx="1021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Mission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5997E1E-0005-494C-88DE-D74E4F685D7C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4968688" y="5207699"/>
            <a:ext cx="13444" cy="1058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5990749-7310-2847-B6F1-712023594214}"/>
              </a:ext>
            </a:extLst>
          </p:cNvPr>
          <p:cNvSpPr txBox="1"/>
          <p:nvPr/>
        </p:nvSpPr>
        <p:spPr>
          <a:xfrm>
            <a:off x="2111185" y="5533881"/>
            <a:ext cx="253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ctr"/>
            <a:r>
              <a:rPr lang="en-US" dirty="0"/>
              <a:t>On-Going Support - Continuous Improvement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FD8876-FFE6-9746-806F-35CB233F4D8C}"/>
              </a:ext>
            </a:extLst>
          </p:cNvPr>
          <p:cNvSpPr txBox="1"/>
          <p:nvPr/>
        </p:nvSpPr>
        <p:spPr>
          <a:xfrm>
            <a:off x="5182945" y="5656991"/>
            <a:ext cx="2533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ctr"/>
            <a:r>
              <a:rPr lang="en-US" dirty="0"/>
              <a:t>Capability Enhancement</a:t>
            </a:r>
          </a:p>
        </p:txBody>
      </p:sp>
    </p:spTree>
    <p:extLst>
      <p:ext uri="{BB962C8B-B14F-4D97-AF65-F5344CB8AC3E}">
        <p14:creationId xmlns:p14="http://schemas.microsoft.com/office/powerpoint/2010/main" val="345461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27085"/>
            <a:ext cx="10515600" cy="710640"/>
          </a:xfrm>
        </p:spPr>
        <p:txBody>
          <a:bodyPr/>
          <a:lstStyle/>
          <a:p>
            <a:r>
              <a:rPr lang="en-US" dirty="0"/>
              <a:t>IT Operating Model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D6791D-049B-C54E-AD73-4276BDB031E1}"/>
              </a:ext>
            </a:extLst>
          </p:cNvPr>
          <p:cNvSpPr/>
          <p:nvPr/>
        </p:nvSpPr>
        <p:spPr>
          <a:xfrm>
            <a:off x="340659" y="2734435"/>
            <a:ext cx="2034987" cy="1625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Operating Model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0B3CD0-D7A9-2C4D-B396-4B9D57761068}"/>
              </a:ext>
            </a:extLst>
          </p:cNvPr>
          <p:cNvSpPr/>
          <p:nvPr/>
        </p:nvSpPr>
        <p:spPr>
          <a:xfrm>
            <a:off x="3684495" y="942895"/>
            <a:ext cx="1732428" cy="149262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Support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CoreOps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3E8750-5863-D341-AC5E-14948A91B924}"/>
              </a:ext>
            </a:extLst>
          </p:cNvPr>
          <p:cNvSpPr/>
          <p:nvPr/>
        </p:nvSpPr>
        <p:spPr>
          <a:xfrm>
            <a:off x="3684494" y="4422483"/>
            <a:ext cx="1732428" cy="127747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Enhance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(DevOps)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91A65-87BB-2C45-A9D7-94548F77B8BA}"/>
              </a:ext>
            </a:extLst>
          </p:cNvPr>
          <p:cNvSpPr/>
          <p:nvPr/>
        </p:nvSpPr>
        <p:spPr>
          <a:xfrm>
            <a:off x="6979024" y="720446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2DE77-D82E-7743-A22C-A382DC39745A}"/>
              </a:ext>
            </a:extLst>
          </p:cNvPr>
          <p:cNvSpPr/>
          <p:nvPr/>
        </p:nvSpPr>
        <p:spPr>
          <a:xfrm>
            <a:off x="9282954" y="689677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E472BF-1D6F-0B4D-92ED-F87F0E8F90B1}"/>
              </a:ext>
            </a:extLst>
          </p:cNvPr>
          <p:cNvSpPr/>
          <p:nvPr/>
        </p:nvSpPr>
        <p:spPr>
          <a:xfrm>
            <a:off x="6979024" y="2130684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Sourcing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45629A-A563-2D4F-B91B-030240EA81FF}"/>
              </a:ext>
            </a:extLst>
          </p:cNvPr>
          <p:cNvSpPr/>
          <p:nvPr/>
        </p:nvSpPr>
        <p:spPr>
          <a:xfrm>
            <a:off x="9282954" y="2162363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98E29E-187E-4640-8FF9-50C762606BE5}"/>
              </a:ext>
            </a:extLst>
          </p:cNvPr>
          <p:cNvSpPr/>
          <p:nvPr/>
        </p:nvSpPr>
        <p:spPr>
          <a:xfrm>
            <a:off x="6985747" y="4106256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831ED7-01A3-4149-B922-3E349DA72C59}"/>
              </a:ext>
            </a:extLst>
          </p:cNvPr>
          <p:cNvSpPr/>
          <p:nvPr/>
        </p:nvSpPr>
        <p:spPr>
          <a:xfrm>
            <a:off x="9289677" y="4075487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29168-0A9A-254F-BBFA-94E2F38A8EAB}"/>
              </a:ext>
            </a:extLst>
          </p:cNvPr>
          <p:cNvSpPr/>
          <p:nvPr/>
        </p:nvSpPr>
        <p:spPr>
          <a:xfrm>
            <a:off x="6985747" y="5516494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Sourcing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5681B9-84AC-EE48-A449-CAC9E9B65502}"/>
              </a:ext>
            </a:extLst>
          </p:cNvPr>
          <p:cNvSpPr/>
          <p:nvPr/>
        </p:nvSpPr>
        <p:spPr>
          <a:xfrm>
            <a:off x="9289677" y="5548173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D9AF25-D5C2-514D-836A-3B316483B8E4}"/>
              </a:ext>
            </a:extLst>
          </p:cNvPr>
          <p:cNvCxnSpPr/>
          <p:nvPr/>
        </p:nvCxnSpPr>
        <p:spPr>
          <a:xfrm flipV="1">
            <a:off x="2595282" y="2162363"/>
            <a:ext cx="1089212" cy="772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6CD757-E0F1-9847-874D-2052D4E80DCC}"/>
              </a:ext>
            </a:extLst>
          </p:cNvPr>
          <p:cNvCxnSpPr/>
          <p:nvPr/>
        </p:nvCxnSpPr>
        <p:spPr>
          <a:xfrm>
            <a:off x="2375646" y="4106256"/>
            <a:ext cx="1080248" cy="1043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D106287-2125-EC48-BF40-8AB815DB2037}"/>
              </a:ext>
            </a:extLst>
          </p:cNvPr>
          <p:cNvSpPr/>
          <p:nvPr/>
        </p:nvSpPr>
        <p:spPr>
          <a:xfrm>
            <a:off x="6360459" y="365126"/>
            <a:ext cx="5212977" cy="2862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8A0C0F-1241-AD47-9788-0F587DD70B22}"/>
              </a:ext>
            </a:extLst>
          </p:cNvPr>
          <p:cNvSpPr/>
          <p:nvPr/>
        </p:nvSpPr>
        <p:spPr>
          <a:xfrm>
            <a:off x="6360459" y="3630707"/>
            <a:ext cx="5212977" cy="2862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50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27085"/>
            <a:ext cx="10515600" cy="710640"/>
          </a:xfrm>
        </p:spPr>
        <p:txBody>
          <a:bodyPr/>
          <a:lstStyle/>
          <a:p>
            <a:r>
              <a:rPr lang="en-US" dirty="0"/>
              <a:t>Conceptual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91A65-87BB-2C45-A9D7-94548F77B8BA}"/>
              </a:ext>
            </a:extLst>
          </p:cNvPr>
          <p:cNvSpPr/>
          <p:nvPr/>
        </p:nvSpPr>
        <p:spPr>
          <a:xfrm>
            <a:off x="710449" y="1318742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2DE77-D82E-7743-A22C-A382DC39745A}"/>
              </a:ext>
            </a:extLst>
          </p:cNvPr>
          <p:cNvSpPr/>
          <p:nvPr/>
        </p:nvSpPr>
        <p:spPr>
          <a:xfrm>
            <a:off x="710451" y="2765157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E472BF-1D6F-0B4D-92ED-F87F0E8F90B1}"/>
              </a:ext>
            </a:extLst>
          </p:cNvPr>
          <p:cNvSpPr/>
          <p:nvPr/>
        </p:nvSpPr>
        <p:spPr>
          <a:xfrm>
            <a:off x="710450" y="4203392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Sourcing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45629A-A563-2D4F-B91B-030240EA81FF}"/>
              </a:ext>
            </a:extLst>
          </p:cNvPr>
          <p:cNvSpPr/>
          <p:nvPr/>
        </p:nvSpPr>
        <p:spPr>
          <a:xfrm>
            <a:off x="688046" y="5523956"/>
            <a:ext cx="1465729" cy="772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6BCF5-A0AF-9B4A-82E6-E79E2CFA8DED}"/>
              </a:ext>
            </a:extLst>
          </p:cNvPr>
          <p:cNvCxnSpPr/>
          <p:nvPr/>
        </p:nvCxnSpPr>
        <p:spPr>
          <a:xfrm>
            <a:off x="3146612" y="941294"/>
            <a:ext cx="0" cy="5773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CB2986-0248-F141-9180-82B6E145CD72}"/>
              </a:ext>
            </a:extLst>
          </p:cNvPr>
          <p:cNvSpPr/>
          <p:nvPr/>
        </p:nvSpPr>
        <p:spPr>
          <a:xfrm>
            <a:off x="3617259" y="1328313"/>
            <a:ext cx="3334868" cy="753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Budget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Operating support (24x7)</a:t>
            </a:r>
          </a:p>
          <a:p>
            <a:r>
              <a:rPr lang="en-US" sz="1200" dirty="0">
                <a:solidFill>
                  <a:schemeClr val="tx1"/>
                </a:solidFill>
              </a:rPr>
              <a:t>SLAs &amp; Metrics</a:t>
            </a:r>
          </a:p>
          <a:p>
            <a:r>
              <a:rPr lang="en-US" sz="1200" dirty="0">
                <a:solidFill>
                  <a:schemeClr val="tx1"/>
                </a:solidFill>
              </a:rPr>
              <a:t>Tools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7924BB-5A9D-8848-B835-509C6C4AB316}"/>
              </a:ext>
            </a:extLst>
          </p:cNvPr>
          <p:cNvCxnSpPr>
            <a:cxnSpLocks/>
          </p:cNvCxnSpPr>
          <p:nvPr/>
        </p:nvCxnSpPr>
        <p:spPr>
          <a:xfrm>
            <a:off x="7602070" y="783937"/>
            <a:ext cx="0" cy="5936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DB824-AFD5-E24B-928E-4B1E39392F76}"/>
              </a:ext>
            </a:extLst>
          </p:cNvPr>
          <p:cNvSpPr/>
          <p:nvPr/>
        </p:nvSpPr>
        <p:spPr>
          <a:xfrm>
            <a:off x="3617259" y="778690"/>
            <a:ext cx="3334868" cy="337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288B3D-43CA-9343-AD11-F81A7D52E3C4}"/>
              </a:ext>
            </a:extLst>
          </p:cNvPr>
          <p:cNvSpPr/>
          <p:nvPr/>
        </p:nvSpPr>
        <p:spPr>
          <a:xfrm>
            <a:off x="8292354" y="802658"/>
            <a:ext cx="3334866" cy="337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Enhance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7315FC-D405-0646-A278-5ECE3CDB34A7}"/>
              </a:ext>
            </a:extLst>
          </p:cNvPr>
          <p:cNvSpPr/>
          <p:nvPr/>
        </p:nvSpPr>
        <p:spPr>
          <a:xfrm>
            <a:off x="3617259" y="2616097"/>
            <a:ext cx="3366244" cy="10702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Production Release</a:t>
            </a:r>
          </a:p>
          <a:p>
            <a:r>
              <a:rPr lang="en-US" sz="1200" dirty="0">
                <a:solidFill>
                  <a:schemeClr val="tx1"/>
                </a:solidFill>
              </a:rPr>
              <a:t>Risk Definition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Escalation Mechanism</a:t>
            </a:r>
          </a:p>
          <a:p>
            <a:r>
              <a:rPr lang="en-US" sz="1200" dirty="0">
                <a:solidFill>
                  <a:schemeClr val="tx1"/>
                </a:solidFill>
              </a:rPr>
              <a:t>QA Testing – big focus on Regression Testing</a:t>
            </a:r>
          </a:p>
          <a:p>
            <a:r>
              <a:rPr lang="en-US" sz="1200" dirty="0">
                <a:solidFill>
                  <a:schemeClr val="tx1"/>
                </a:solidFill>
              </a:rPr>
              <a:t>Minor Fixes and schedule of releases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BCP /DR planning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CCDF6A-4BBC-3441-81AC-4C05786C033F}"/>
              </a:ext>
            </a:extLst>
          </p:cNvPr>
          <p:cNvSpPr/>
          <p:nvPr/>
        </p:nvSpPr>
        <p:spPr>
          <a:xfrm>
            <a:off x="3648639" y="4108925"/>
            <a:ext cx="3334868" cy="10417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Employee : Outsource Staff for key roles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Vendor Partnerships</a:t>
            </a:r>
          </a:p>
          <a:p>
            <a:r>
              <a:rPr lang="en-US" sz="1200" dirty="0">
                <a:solidFill>
                  <a:schemeClr val="tx1"/>
                </a:solidFill>
              </a:rPr>
              <a:t>Contract Management</a:t>
            </a:r>
          </a:p>
          <a:p>
            <a:r>
              <a:rPr lang="en-US" sz="1200" dirty="0">
                <a:solidFill>
                  <a:schemeClr val="tx1"/>
                </a:solidFill>
              </a:rPr>
              <a:t>Infrastructure Support </a:t>
            </a:r>
          </a:p>
          <a:p>
            <a:r>
              <a:rPr lang="en-US" sz="1200" dirty="0">
                <a:solidFill>
                  <a:schemeClr val="tx1"/>
                </a:solidFill>
              </a:rPr>
              <a:t>Help Desk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B966F9-3052-B14F-972B-E67FFAD52286}"/>
              </a:ext>
            </a:extLst>
          </p:cNvPr>
          <p:cNvSpPr/>
          <p:nvPr/>
        </p:nvSpPr>
        <p:spPr>
          <a:xfrm>
            <a:off x="3693460" y="5533527"/>
            <a:ext cx="3334868" cy="753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Deep alignment with Business</a:t>
            </a:r>
          </a:p>
          <a:p>
            <a:r>
              <a:rPr lang="en-US" sz="1200" dirty="0">
                <a:solidFill>
                  <a:schemeClr val="tx1"/>
                </a:solidFill>
              </a:rPr>
              <a:t>PMO Structure</a:t>
            </a:r>
          </a:p>
          <a:p>
            <a:r>
              <a:rPr lang="en-US" sz="1200" dirty="0">
                <a:solidFill>
                  <a:schemeClr val="tx1"/>
                </a:solidFill>
              </a:rPr>
              <a:t>Staff Rotation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Data Governance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010B76-10B6-1448-B093-187F35E79FFD}"/>
              </a:ext>
            </a:extLst>
          </p:cNvPr>
          <p:cNvSpPr/>
          <p:nvPr/>
        </p:nvSpPr>
        <p:spPr>
          <a:xfrm>
            <a:off x="8292354" y="1328313"/>
            <a:ext cx="3334868" cy="753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Business Strategy </a:t>
            </a:r>
          </a:p>
          <a:p>
            <a:r>
              <a:rPr lang="en-US" sz="1200" dirty="0">
                <a:solidFill>
                  <a:schemeClr val="tx1"/>
                </a:solidFill>
              </a:rPr>
              <a:t>Capability Roadmap</a:t>
            </a:r>
          </a:p>
          <a:p>
            <a:r>
              <a:rPr lang="en-US" sz="1200" dirty="0">
                <a:solidFill>
                  <a:schemeClr val="tx1"/>
                </a:solidFill>
              </a:rPr>
              <a:t>Business Value Realization Prioritization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Tools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070CCB-6A28-0944-A16E-7B8FC8D1D407}"/>
              </a:ext>
            </a:extLst>
          </p:cNvPr>
          <p:cNvSpPr/>
          <p:nvPr/>
        </p:nvSpPr>
        <p:spPr>
          <a:xfrm>
            <a:off x="8292354" y="2566078"/>
            <a:ext cx="3334868" cy="11703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3M-6M-12M Plan</a:t>
            </a:r>
          </a:p>
          <a:p>
            <a:r>
              <a:rPr lang="en-US" sz="1200" dirty="0">
                <a:solidFill>
                  <a:schemeClr val="tx1"/>
                </a:solidFill>
              </a:rPr>
              <a:t>Architecture Definition </a:t>
            </a:r>
          </a:p>
          <a:p>
            <a:r>
              <a:rPr lang="en-US" sz="1200" dirty="0">
                <a:solidFill>
                  <a:schemeClr val="tx1"/>
                </a:solidFill>
              </a:rPr>
              <a:t>Design Decision Choices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Technology Choices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Milestone | Deliverables |Schedule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5DF6FB-BAC9-B944-9B52-8240E801D792}"/>
              </a:ext>
            </a:extLst>
          </p:cNvPr>
          <p:cNvSpPr/>
          <p:nvPr/>
        </p:nvSpPr>
        <p:spPr>
          <a:xfrm>
            <a:off x="8292354" y="4100116"/>
            <a:ext cx="3334868" cy="1059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Employee: Outsource staff for key roles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External Review and Vendor Partnerships</a:t>
            </a:r>
          </a:p>
          <a:p>
            <a:r>
              <a:rPr lang="en-US" sz="1200" dirty="0">
                <a:solidFill>
                  <a:schemeClr val="tx1"/>
                </a:solidFill>
              </a:rPr>
              <a:t>Contract Management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D98B53-E9DA-E645-A18C-D4F0B440F9A1}"/>
              </a:ext>
            </a:extLst>
          </p:cNvPr>
          <p:cNvSpPr/>
          <p:nvPr/>
        </p:nvSpPr>
        <p:spPr>
          <a:xfrm>
            <a:off x="8292354" y="5524718"/>
            <a:ext cx="3334868" cy="7706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Agile / Scrum Framework </a:t>
            </a:r>
          </a:p>
          <a:p>
            <a:r>
              <a:rPr lang="en-US" sz="1200" dirty="0">
                <a:solidFill>
                  <a:schemeClr val="tx1"/>
                </a:solidFill>
              </a:rPr>
              <a:t>Sprints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Product Managers/Business Analysts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Data Governance</a:t>
            </a:r>
          </a:p>
        </p:txBody>
      </p:sp>
    </p:spTree>
    <p:extLst>
      <p:ext uri="{BB962C8B-B14F-4D97-AF65-F5344CB8AC3E}">
        <p14:creationId xmlns:p14="http://schemas.microsoft.com/office/powerpoint/2010/main" val="24415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/>
              <a:t>Cadence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E2DC69-D226-F741-B0F3-107CB835EC35}"/>
              </a:ext>
            </a:extLst>
          </p:cNvPr>
          <p:cNvSpPr/>
          <p:nvPr/>
        </p:nvSpPr>
        <p:spPr>
          <a:xfrm>
            <a:off x="726141" y="1467784"/>
            <a:ext cx="2034987" cy="1625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Biz Strategy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B706F5-16C4-8F45-A90E-A0F64B709710}"/>
              </a:ext>
            </a:extLst>
          </p:cNvPr>
          <p:cNvSpPr/>
          <p:nvPr/>
        </p:nvSpPr>
        <p:spPr>
          <a:xfrm>
            <a:off x="4250392" y="1467784"/>
            <a:ext cx="2034987" cy="1625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Portfolio Strategy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D6791D-049B-C54E-AD73-4276BDB031E1}"/>
              </a:ext>
            </a:extLst>
          </p:cNvPr>
          <p:cNvSpPr/>
          <p:nvPr/>
        </p:nvSpPr>
        <p:spPr>
          <a:xfrm>
            <a:off x="7900149" y="1353670"/>
            <a:ext cx="2034987" cy="1625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Operating Model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073C31B2-F4E8-0D4D-8DBB-A4B292E6024A}"/>
              </a:ext>
            </a:extLst>
          </p:cNvPr>
          <p:cNvSpPr/>
          <p:nvPr/>
        </p:nvSpPr>
        <p:spPr>
          <a:xfrm>
            <a:off x="3186954" y="2166190"/>
            <a:ext cx="779929" cy="28117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AFA1105-8D86-314B-86BD-F95F304F223F}"/>
              </a:ext>
            </a:extLst>
          </p:cNvPr>
          <p:cNvSpPr/>
          <p:nvPr/>
        </p:nvSpPr>
        <p:spPr>
          <a:xfrm>
            <a:off x="6702799" y="2125849"/>
            <a:ext cx="779929" cy="28117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542DE-AD0D-2C4D-A08F-A0C63AA4A8F3}"/>
              </a:ext>
            </a:extLst>
          </p:cNvPr>
          <p:cNvSpPr txBox="1"/>
          <p:nvPr/>
        </p:nvSpPr>
        <p:spPr>
          <a:xfrm>
            <a:off x="1055785" y="3300176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Semi-Annual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886C1A-30DC-B949-A6D7-1A0F1B9B6E86}"/>
              </a:ext>
            </a:extLst>
          </p:cNvPr>
          <p:cNvSpPr txBox="1"/>
          <p:nvPr/>
        </p:nvSpPr>
        <p:spPr>
          <a:xfrm>
            <a:off x="4726967" y="3300176"/>
            <a:ext cx="107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Quarterly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82D6E-D973-924E-B864-E5F58724223A}"/>
              </a:ext>
            </a:extLst>
          </p:cNvPr>
          <p:cNvSpPr txBox="1"/>
          <p:nvPr/>
        </p:nvSpPr>
        <p:spPr>
          <a:xfrm>
            <a:off x="8548678" y="3300176"/>
            <a:ext cx="979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Monthly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371505-7B79-6249-9736-20781C33C949}"/>
              </a:ext>
            </a:extLst>
          </p:cNvPr>
          <p:cNvSpPr/>
          <p:nvPr/>
        </p:nvSpPr>
        <p:spPr>
          <a:xfrm>
            <a:off x="6756089" y="4543842"/>
            <a:ext cx="1656103" cy="61799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Support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CoreOps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FF84D9-5A66-5D49-815D-FD728A0159BA}"/>
              </a:ext>
            </a:extLst>
          </p:cNvPr>
          <p:cNvSpPr/>
          <p:nvPr/>
        </p:nvSpPr>
        <p:spPr>
          <a:xfrm>
            <a:off x="9796180" y="4517977"/>
            <a:ext cx="1559859" cy="64385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Enhance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(DevOps)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40DB8-F7EF-9B48-91F3-FE5AC149C2E2}"/>
              </a:ext>
            </a:extLst>
          </p:cNvPr>
          <p:cNvSpPr txBox="1"/>
          <p:nvPr/>
        </p:nvSpPr>
        <p:spPr>
          <a:xfrm>
            <a:off x="7166720" y="533893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Daily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964125-88C0-2B46-BFDE-15DAC44662CE}"/>
              </a:ext>
            </a:extLst>
          </p:cNvPr>
          <p:cNvSpPr txBox="1"/>
          <p:nvPr/>
        </p:nvSpPr>
        <p:spPr>
          <a:xfrm>
            <a:off x="10252142" y="5338932"/>
            <a:ext cx="873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Weekly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35D70D-F144-5041-ADF9-B92E686355F7}"/>
              </a:ext>
            </a:extLst>
          </p:cNvPr>
          <p:cNvCxnSpPr>
            <a:cxnSpLocks/>
          </p:cNvCxnSpPr>
          <p:nvPr/>
        </p:nvCxnSpPr>
        <p:spPr>
          <a:xfrm flipH="1">
            <a:off x="7584141" y="3092824"/>
            <a:ext cx="779930" cy="1129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D0160B-EC96-5848-862E-CD6B4CA6DAA0}"/>
              </a:ext>
            </a:extLst>
          </p:cNvPr>
          <p:cNvCxnSpPr>
            <a:cxnSpLocks/>
          </p:cNvCxnSpPr>
          <p:nvPr/>
        </p:nvCxnSpPr>
        <p:spPr>
          <a:xfrm>
            <a:off x="9708776" y="2978710"/>
            <a:ext cx="968189" cy="124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16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/>
              <a:t>Roles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BB2F73-F4E1-E440-B55E-C871B7E26AC5}"/>
              </a:ext>
            </a:extLst>
          </p:cNvPr>
          <p:cNvSpPr/>
          <p:nvPr/>
        </p:nvSpPr>
        <p:spPr>
          <a:xfrm>
            <a:off x="551329" y="1882588"/>
            <a:ext cx="2111189" cy="672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 Owner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D13351-1A1F-4147-A541-247BCA86E38B}"/>
              </a:ext>
            </a:extLst>
          </p:cNvPr>
          <p:cNvSpPr/>
          <p:nvPr/>
        </p:nvSpPr>
        <p:spPr>
          <a:xfrm>
            <a:off x="4491317" y="1815352"/>
            <a:ext cx="2111189" cy="672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Scrum Master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6FB374-5165-154F-9531-516F6CBA54B6}"/>
              </a:ext>
            </a:extLst>
          </p:cNvPr>
          <p:cNvSpPr/>
          <p:nvPr/>
        </p:nvSpPr>
        <p:spPr>
          <a:xfrm>
            <a:off x="8269940" y="1788458"/>
            <a:ext cx="2111189" cy="672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Scrum Team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81EA0F-7B53-E342-B39A-8660831D8E69}"/>
              </a:ext>
            </a:extLst>
          </p:cNvPr>
          <p:cNvSpPr txBox="1"/>
          <p:nvPr/>
        </p:nvSpPr>
        <p:spPr>
          <a:xfrm>
            <a:off x="8269939" y="3103132"/>
            <a:ext cx="2729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Project Manager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Business Analyst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Architecture &amp; Design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Full Stack Developers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QA &amp; Testing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1A0A92-B51F-B94A-A79C-BAD18EA230BC}"/>
              </a:ext>
            </a:extLst>
          </p:cNvPr>
          <p:cNvSpPr txBox="1"/>
          <p:nvPr/>
        </p:nvSpPr>
        <p:spPr>
          <a:xfrm>
            <a:off x="407893" y="3056965"/>
            <a:ext cx="2729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Product Vision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Prioritization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Budgeting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370E3A-E299-404D-80A5-2B3D356022DA}"/>
              </a:ext>
            </a:extLst>
          </p:cNvPr>
          <p:cNvSpPr txBox="1"/>
          <p:nvPr/>
        </p:nvSpPr>
        <p:spPr>
          <a:xfrm>
            <a:off x="4338916" y="3091463"/>
            <a:ext cx="2729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Process </a:t>
            </a:r>
            <a:r>
              <a:rPr lang="en-US" dirty="0" err="1"/>
              <a:t>Mgmt</a:t>
            </a: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Communication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Team </a:t>
            </a:r>
            <a:r>
              <a:rPr lang="en-US" dirty="0" err="1"/>
              <a:t>Mgmt</a:t>
            </a: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Quality Check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Release </a:t>
            </a:r>
          </a:p>
        </p:txBody>
      </p:sp>
    </p:spTree>
    <p:extLst>
      <p:ext uri="{BB962C8B-B14F-4D97-AF65-F5344CB8AC3E}">
        <p14:creationId xmlns:p14="http://schemas.microsoft.com/office/powerpoint/2010/main" val="473819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E47-38D8-0C43-BDFB-6C818869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9726"/>
            <a:ext cx="12191999" cy="71064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3844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220</Words>
  <Application>Microsoft Macintosh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Organization Design</vt:lpstr>
      <vt:lpstr>Alignment</vt:lpstr>
      <vt:lpstr>Alignment</vt:lpstr>
      <vt:lpstr>IT Operating Model</vt:lpstr>
      <vt:lpstr>Conceptual Model</vt:lpstr>
      <vt:lpstr>Cadence</vt:lpstr>
      <vt:lpstr>Roles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umashankar kotturu</dc:creator>
  <cp:lastModifiedBy>umashankar kotturu</cp:lastModifiedBy>
  <cp:revision>23</cp:revision>
  <dcterms:created xsi:type="dcterms:W3CDTF">2020-03-05T01:25:14Z</dcterms:created>
  <dcterms:modified xsi:type="dcterms:W3CDTF">2020-03-05T12:52:19Z</dcterms:modified>
</cp:coreProperties>
</file>