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67" r:id="rId5"/>
    <p:sldId id="258" r:id="rId6"/>
    <p:sldId id="259" r:id="rId7"/>
    <p:sldId id="261" r:id="rId8"/>
    <p:sldId id="265" r:id="rId9"/>
    <p:sldId id="266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29"/>
    <p:restoredTop sz="95153"/>
  </p:normalViewPr>
  <p:slideViewPr>
    <p:cSldViewPr snapToGrid="0" snapToObjects="1">
      <p:cViewPr varScale="1">
        <p:scale>
          <a:sx n="95" d="100"/>
          <a:sy n="95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61262-8259-F44A-AAA3-525C2B36E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781AF-3754-3442-B9D7-F64E1C21C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0D639-83F3-1543-930A-8EB9039E4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B1743-59B3-5D4C-AE52-DD35BB1FC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A03BD-ED80-744A-962E-0609763BC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086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D5C6D-9704-CC41-8971-B86276009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586C8-88FC-6C4E-A058-7C867779A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84522-A766-F143-B5C9-61F07DEC8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9304B-4883-9F46-A492-A4506B1F3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D1C7C-E256-044E-AEE7-B1C294324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2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5F31B-7EBD-A943-A0F7-F9BEF1DEE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5C131-972C-D144-ABDD-2097784A3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00C17-B034-EB46-A4AE-3F986DAA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54E77-584D-5444-BD53-DF37FC27C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AF085-C20C-184B-BEFC-7A68ECB4D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2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4125E-2BCC-384D-A489-CDE810B19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20E0E-68BF-F742-8156-4B2BD68B2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A1C5E-0B27-A54E-9C73-AEDFD0FE3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A1B42-8D2F-CC43-AE95-148E9047D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7C25F-33C3-E54B-AE64-E8248107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A18BA-91FD-CE45-A5F9-08CACE9CC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081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FD8DD-ABD5-DB42-A137-47EC8A68F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3C012-1923-F946-A9C3-D1F15FA6B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7779C-C03E-0E40-8ECB-76970DACE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386AC-168B-754D-8AC3-79CB5A98F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65A3D9-B279-EF42-B1C9-5E4A3F719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CA2F19-1CE5-964E-B263-5D3BCF7BA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E4A89B-47BA-7348-8077-47EAAEA5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14FD23-D21A-2C4D-B07C-50797355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5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5C506-65D5-7849-9C8C-C3E231B3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99B066-E494-CC4B-B62D-F6C86BF8C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70066-B1AD-8242-ADE1-D4BCD0FED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005A1-1326-414E-B268-89DCFCB5A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148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1BC144-73AC-4D42-95DE-ABD907E5D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B0196E-CD82-0A4A-AEED-ABBF1484E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AF793-C7F8-3A43-A70A-DCFE43198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5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ECA8E-3BFD-D040-874B-CD0451A3C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3705C-9B30-CC40-9D1D-DF8137BE8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E0C16-5274-174C-8A87-C83D8C422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6FB77-C2D7-194B-9375-C36BB4597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92DB1-7113-184D-BCC2-AC1268C37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E12C3-7E79-4246-9F2A-7DC0D2BEA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05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0C5E3-AC1C-1C44-A620-58B2464C5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DF91EB-4D09-7342-9EA2-9F10B5675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1B053-CBB1-7444-8065-DF52B3140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B8507-B233-6B44-8F8D-AA389EE0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5E030-2C1E-E942-9BAD-FBE69F80A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77EBB-FBFF-D64A-A0E8-71429F842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531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3DDA-8259-4C47-AC19-5C4C41FB8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3F995-17C9-084D-9250-4E8879BEB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FD0D8-54BF-1D4B-B276-B45AD63CA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7E03A-B652-9F4A-9B7E-CB75BB2F5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E0CE4-E206-954B-8789-2DF88B97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A938C3-3B64-5143-A6C5-7518722690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90320C-5C01-1041-B9C6-7BDB7911A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6F5BD-06BD-DD46-BB0D-573CA5FFA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3E1B3-0EAE-9E40-A9CF-CDCE8CFE3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E518E-A8CF-3044-A00A-CA316B342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11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2845B6-0227-FA4A-B0D5-B0CB0DE74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CFD9B-8DDE-1347-99A8-30E14998A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A8575-0D28-B943-8435-ADE3C330FE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965CC-30EF-0247-988A-CE82276D350A}" type="datetimeFigureOut">
              <a:rPr lang="en-US" smtClean="0"/>
              <a:t>3/13/20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63F43-3B3E-5B4D-9F37-97D814576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A277F-86B5-714E-9297-DCDDB271E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96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83524-7A8D-D149-89B3-E62B71153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Organization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CE8BF-0E71-434F-8DF4-2DE59E797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45106"/>
            <a:ext cx="9144000" cy="712694"/>
          </a:xfrm>
        </p:spPr>
        <p:txBody>
          <a:bodyPr/>
          <a:lstStyle/>
          <a:p>
            <a:r>
              <a:rPr lang="en-US" dirty="0"/>
              <a:t>Discussion Document</a:t>
            </a:r>
          </a:p>
        </p:txBody>
      </p:sp>
    </p:spTree>
    <p:extLst>
      <p:ext uri="{BB962C8B-B14F-4D97-AF65-F5344CB8AC3E}">
        <p14:creationId xmlns:p14="http://schemas.microsoft.com/office/powerpoint/2010/main" val="3519732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0E47-38D8-0C43-BDFB-6C818869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640"/>
          </a:xfrm>
        </p:spPr>
        <p:txBody>
          <a:bodyPr/>
          <a:lstStyle/>
          <a:p>
            <a:r>
              <a:rPr lang="en-US" dirty="0"/>
              <a:t>Alignment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8E2DC69-D226-F741-B0F3-107CB835EC35}"/>
              </a:ext>
            </a:extLst>
          </p:cNvPr>
          <p:cNvSpPr/>
          <p:nvPr/>
        </p:nvSpPr>
        <p:spPr>
          <a:xfrm>
            <a:off x="1089211" y="2261160"/>
            <a:ext cx="2034987" cy="16250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Biz Strategy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AB706F5-16C4-8F45-A90E-A0F64B709710}"/>
              </a:ext>
            </a:extLst>
          </p:cNvPr>
          <p:cNvSpPr/>
          <p:nvPr/>
        </p:nvSpPr>
        <p:spPr>
          <a:xfrm>
            <a:off x="4613462" y="2261160"/>
            <a:ext cx="2034987" cy="16250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Portfolio Strategy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D6791D-049B-C54E-AD73-4276BDB031E1}"/>
              </a:ext>
            </a:extLst>
          </p:cNvPr>
          <p:cNvSpPr/>
          <p:nvPr/>
        </p:nvSpPr>
        <p:spPr>
          <a:xfrm>
            <a:off x="8263219" y="2200834"/>
            <a:ext cx="2034987" cy="16250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Operating Model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073C31B2-F4E8-0D4D-8DBB-A4B292E6024A}"/>
              </a:ext>
            </a:extLst>
          </p:cNvPr>
          <p:cNvSpPr/>
          <p:nvPr/>
        </p:nvSpPr>
        <p:spPr>
          <a:xfrm>
            <a:off x="3550024" y="2959566"/>
            <a:ext cx="779929" cy="281175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4AFA1105-8D86-314B-86BD-F95F304F223F}"/>
              </a:ext>
            </a:extLst>
          </p:cNvPr>
          <p:cNvSpPr/>
          <p:nvPr/>
        </p:nvSpPr>
        <p:spPr>
          <a:xfrm>
            <a:off x="7065869" y="2919225"/>
            <a:ext cx="779929" cy="281175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893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0E47-38D8-0C43-BDFB-6C818869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640"/>
          </a:xfrm>
        </p:spPr>
        <p:txBody>
          <a:bodyPr/>
          <a:lstStyle/>
          <a:p>
            <a:r>
              <a:rPr lang="en-US" dirty="0"/>
              <a:t>Business IT Org Creation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2D76842-1C61-AB4F-9827-401F7CFDFF83}"/>
              </a:ext>
            </a:extLst>
          </p:cNvPr>
          <p:cNvGrpSpPr/>
          <p:nvPr/>
        </p:nvGrpSpPr>
        <p:grpSpPr>
          <a:xfrm>
            <a:off x="1573305" y="1411941"/>
            <a:ext cx="6790765" cy="4854388"/>
            <a:chOff x="1573305" y="1411941"/>
            <a:chExt cx="6790765" cy="4854388"/>
          </a:xfrm>
        </p:grpSpPr>
        <p:sp>
          <p:nvSpPr>
            <p:cNvPr id="15" name="Triangle 14">
              <a:extLst>
                <a:ext uri="{FF2B5EF4-FFF2-40B4-BE49-F238E27FC236}">
                  <a16:creationId xmlns:a16="http://schemas.microsoft.com/office/drawing/2014/main" id="{421B143D-EA14-5F44-86D1-65802F02BB30}"/>
                </a:ext>
              </a:extLst>
            </p:cNvPr>
            <p:cNvSpPr/>
            <p:nvPr/>
          </p:nvSpPr>
          <p:spPr>
            <a:xfrm>
              <a:off x="1573305" y="1411941"/>
              <a:ext cx="6790765" cy="4854388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37D4E56-8C0D-EE4C-9F45-E8C78228C317}"/>
                </a:ext>
              </a:extLst>
            </p:cNvPr>
            <p:cNvCxnSpPr>
              <a:cxnSpLocks/>
            </p:cNvCxnSpPr>
            <p:nvPr/>
          </p:nvCxnSpPr>
          <p:spPr>
            <a:xfrm>
              <a:off x="2312894" y="5197705"/>
              <a:ext cx="5298141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0BDB27C-8AB3-BB4A-B916-9DFDE8E998FB}"/>
                </a:ext>
              </a:extLst>
            </p:cNvPr>
            <p:cNvCxnSpPr>
              <a:cxnSpLocks/>
            </p:cNvCxnSpPr>
            <p:nvPr/>
          </p:nvCxnSpPr>
          <p:spPr>
            <a:xfrm>
              <a:off x="3079376" y="4157418"/>
              <a:ext cx="38055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AAB0794-6394-BB4C-8C25-0BFB8EB56A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44153" y="3341935"/>
              <a:ext cx="2716306" cy="110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6FD33FE-2457-B747-954A-06B6638A0C9A}"/>
                </a:ext>
              </a:extLst>
            </p:cNvPr>
            <p:cNvSpPr txBox="1"/>
            <p:nvPr/>
          </p:nvSpPr>
          <p:spPr>
            <a:xfrm>
              <a:off x="4645065" y="2123668"/>
              <a:ext cx="10219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Vision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1EEB80C-737A-DB4A-996C-364E868C8342}"/>
                </a:ext>
              </a:extLst>
            </p:cNvPr>
            <p:cNvSpPr txBox="1"/>
            <p:nvPr/>
          </p:nvSpPr>
          <p:spPr>
            <a:xfrm>
              <a:off x="3875224" y="3649589"/>
              <a:ext cx="21734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en-US" dirty="0"/>
                <a:t>Org Strategy, Objectives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E83F448-69B3-554A-BA66-FB94E52C6A02}"/>
                </a:ext>
              </a:extLst>
            </p:cNvPr>
            <p:cNvCxnSpPr>
              <a:cxnSpLocks/>
            </p:cNvCxnSpPr>
            <p:nvPr/>
          </p:nvCxnSpPr>
          <p:spPr>
            <a:xfrm>
              <a:off x="4982132" y="4182428"/>
              <a:ext cx="13449" cy="101527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D61546-64D6-6B4E-9394-3C0498AEA39B}"/>
                </a:ext>
              </a:extLst>
            </p:cNvPr>
            <p:cNvSpPr txBox="1"/>
            <p:nvPr/>
          </p:nvSpPr>
          <p:spPr>
            <a:xfrm>
              <a:off x="3458363" y="4606011"/>
              <a:ext cx="14027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en-US" dirty="0"/>
                <a:t>Ops Planning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14D9B7F-19DC-EC41-9BBF-835E11BB3F09}"/>
                </a:ext>
              </a:extLst>
            </p:cNvPr>
            <p:cNvSpPr txBox="1"/>
            <p:nvPr/>
          </p:nvSpPr>
          <p:spPr>
            <a:xfrm>
              <a:off x="5156054" y="4444842"/>
              <a:ext cx="14027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en-US" dirty="0"/>
                <a:t>Portfolio Management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0407B2C-1FD8-E244-9EBF-AC728C2C1640}"/>
                </a:ext>
              </a:extLst>
            </p:cNvPr>
            <p:cNvCxnSpPr>
              <a:cxnSpLocks/>
            </p:cNvCxnSpPr>
            <p:nvPr/>
          </p:nvCxnSpPr>
          <p:spPr>
            <a:xfrm>
              <a:off x="4047565" y="2697556"/>
              <a:ext cx="1809860" cy="30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2CE6BB7-1099-224A-8E88-2D12EAAD74AA}"/>
                </a:ext>
              </a:extLst>
            </p:cNvPr>
            <p:cNvSpPr txBox="1"/>
            <p:nvPr/>
          </p:nvSpPr>
          <p:spPr>
            <a:xfrm>
              <a:off x="4484593" y="2838347"/>
              <a:ext cx="10219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Mission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5997E1E-0005-494C-88DE-D74E4F685D7C}"/>
                </a:ext>
              </a:extLst>
            </p:cNvPr>
            <p:cNvCxnSpPr>
              <a:cxnSpLocks/>
              <a:endCxn id="15" idx="3"/>
            </p:cNvCxnSpPr>
            <p:nvPr/>
          </p:nvCxnSpPr>
          <p:spPr>
            <a:xfrm flipH="1">
              <a:off x="4968688" y="5207699"/>
              <a:ext cx="13444" cy="10586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5990749-7310-2847-B6F1-712023594214}"/>
                </a:ext>
              </a:extLst>
            </p:cNvPr>
            <p:cNvSpPr txBox="1"/>
            <p:nvPr/>
          </p:nvSpPr>
          <p:spPr>
            <a:xfrm>
              <a:off x="2111185" y="5533881"/>
              <a:ext cx="25338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ctr"/>
              <a:r>
                <a:rPr lang="en-US" dirty="0"/>
                <a:t>On-Going Support - Continuous Improvement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AFD8876-FFE6-9746-806F-35CB233F4D8C}"/>
                </a:ext>
              </a:extLst>
            </p:cNvPr>
            <p:cNvSpPr txBox="1"/>
            <p:nvPr/>
          </p:nvSpPr>
          <p:spPr>
            <a:xfrm>
              <a:off x="5182945" y="5656991"/>
              <a:ext cx="2533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ctr"/>
              <a:r>
                <a:rPr lang="en-US" dirty="0"/>
                <a:t>Capability Enhancement</a:t>
              </a:r>
            </a:p>
          </p:txBody>
        </p:sp>
      </p:grp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8E7DF9D5-CF33-6041-9E75-8EF607497221}"/>
              </a:ext>
            </a:extLst>
          </p:cNvPr>
          <p:cNvCxnSpPr/>
          <p:nvPr/>
        </p:nvCxnSpPr>
        <p:spPr>
          <a:xfrm flipV="1">
            <a:off x="7853082" y="5197705"/>
            <a:ext cx="2205318" cy="45928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4C13D47-B59F-2644-83B1-CAFC8780369D}"/>
              </a:ext>
            </a:extLst>
          </p:cNvPr>
          <p:cNvSpPr txBox="1"/>
          <p:nvPr/>
        </p:nvSpPr>
        <p:spPr>
          <a:xfrm>
            <a:off x="9009529" y="4733365"/>
            <a:ext cx="271240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Detailed Process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6FF5B6-7014-3D44-A99F-41730410079D}"/>
              </a:ext>
            </a:extLst>
          </p:cNvPr>
          <p:cNvSpPr txBox="1"/>
          <p:nvPr/>
        </p:nvSpPr>
        <p:spPr>
          <a:xfrm>
            <a:off x="8130988" y="1409588"/>
            <a:ext cx="3854824" cy="1200329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Guiding Philosophy:</a:t>
            </a:r>
          </a:p>
          <a:p>
            <a:r>
              <a:rPr lang="en-US" dirty="0"/>
              <a:t>A light-weight process design for immediate adoption, but scope to enhance the process with iterations</a:t>
            </a:r>
          </a:p>
        </p:txBody>
      </p:sp>
    </p:spTree>
    <p:extLst>
      <p:ext uri="{BB962C8B-B14F-4D97-AF65-F5344CB8AC3E}">
        <p14:creationId xmlns:p14="http://schemas.microsoft.com/office/powerpoint/2010/main" val="3454615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4315C674-6E5A-3A41-9E57-6E1C84420B70}"/>
              </a:ext>
            </a:extLst>
          </p:cNvPr>
          <p:cNvGrpSpPr/>
          <p:nvPr/>
        </p:nvGrpSpPr>
        <p:grpSpPr>
          <a:xfrm>
            <a:off x="2428466" y="1845273"/>
            <a:ext cx="7634417" cy="3874974"/>
            <a:chOff x="288244" y="1368195"/>
            <a:chExt cx="7634417" cy="3874974"/>
          </a:xfrm>
        </p:grpSpPr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8E69FE7F-1B6E-FC45-9447-659DEF9B8486}"/>
                </a:ext>
              </a:extLst>
            </p:cNvPr>
            <p:cNvSpPr/>
            <p:nvPr/>
          </p:nvSpPr>
          <p:spPr>
            <a:xfrm>
              <a:off x="2337855" y="3518263"/>
              <a:ext cx="1524000" cy="1225731"/>
            </a:xfrm>
            <a:prstGeom prst="triangl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98CB9311-4A58-344E-B45E-E76F67B157C2}"/>
                </a:ext>
              </a:extLst>
            </p:cNvPr>
            <p:cNvSpPr/>
            <p:nvPr/>
          </p:nvSpPr>
          <p:spPr>
            <a:xfrm>
              <a:off x="3914109" y="3521529"/>
              <a:ext cx="1524000" cy="1225731"/>
            </a:xfrm>
            <a:prstGeom prst="triangl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50877166-09D4-5443-9BAB-10BFC469BA5B}"/>
                </a:ext>
              </a:extLst>
            </p:cNvPr>
            <p:cNvSpPr/>
            <p:nvPr/>
          </p:nvSpPr>
          <p:spPr>
            <a:xfrm rot="10800000">
              <a:off x="3117273" y="3511187"/>
              <a:ext cx="1524000" cy="1225731"/>
            </a:xfrm>
            <a:prstGeom prst="triangl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F39BA95-B96E-3C40-8C06-0FDABF3AF749}"/>
                </a:ext>
              </a:extLst>
            </p:cNvPr>
            <p:cNvSpPr/>
            <p:nvPr/>
          </p:nvSpPr>
          <p:spPr>
            <a:xfrm>
              <a:off x="3117273" y="2262867"/>
              <a:ext cx="1524000" cy="1225731"/>
            </a:xfrm>
            <a:prstGeom prst="triangl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4BF143-9EDC-4747-BB7C-D9685D02BCC7}"/>
                </a:ext>
              </a:extLst>
            </p:cNvPr>
            <p:cNvSpPr/>
            <p:nvPr/>
          </p:nvSpPr>
          <p:spPr>
            <a:xfrm>
              <a:off x="2350254" y="4784793"/>
              <a:ext cx="3087855" cy="45837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Cloud Foundation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3619AA5-C381-FA46-87E9-90FC7A1F27B0}"/>
                </a:ext>
              </a:extLst>
            </p:cNvPr>
            <p:cNvSpPr txBox="1"/>
            <p:nvPr/>
          </p:nvSpPr>
          <p:spPr>
            <a:xfrm>
              <a:off x="3476420" y="3755301"/>
              <a:ext cx="8745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Efficiency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F933495-057C-CE47-81F9-29169A2045C7}"/>
                </a:ext>
              </a:extLst>
            </p:cNvPr>
            <p:cNvSpPr txBox="1"/>
            <p:nvPr/>
          </p:nvSpPr>
          <p:spPr>
            <a:xfrm>
              <a:off x="3519964" y="3088712"/>
              <a:ext cx="73603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Growth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259701-30C9-2D4D-93C2-BDDDE1E7607F}"/>
                </a:ext>
              </a:extLst>
            </p:cNvPr>
            <p:cNvSpPr txBox="1"/>
            <p:nvPr/>
          </p:nvSpPr>
          <p:spPr>
            <a:xfrm>
              <a:off x="2517755" y="4310886"/>
              <a:ext cx="9140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Resilience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57E59C3-A045-394B-B5EF-04957779511D}"/>
                </a:ext>
              </a:extLst>
            </p:cNvPr>
            <p:cNvSpPr txBox="1"/>
            <p:nvPr/>
          </p:nvSpPr>
          <p:spPr>
            <a:xfrm>
              <a:off x="4163681" y="4314443"/>
              <a:ext cx="104227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Compliance</a:t>
              </a:r>
            </a:p>
          </p:txBody>
        </p:sp>
        <p:cxnSp>
          <p:nvCxnSpPr>
            <p:cNvPr id="15" name="Elbow Connector 14">
              <a:extLst>
                <a:ext uri="{FF2B5EF4-FFF2-40B4-BE49-F238E27FC236}">
                  <a16:creationId xmlns:a16="http://schemas.microsoft.com/office/drawing/2014/main" id="{E2C955FD-604B-564D-AC30-CF1EF25BCDA0}"/>
                </a:ext>
              </a:extLst>
            </p:cNvPr>
            <p:cNvCxnSpPr>
              <a:cxnSpLocks/>
              <a:stCxn id="8" idx="5"/>
            </p:cNvCxnSpPr>
            <p:nvPr/>
          </p:nvCxnSpPr>
          <p:spPr>
            <a:xfrm flipV="1">
              <a:off x="4260273" y="2176592"/>
              <a:ext cx="3040339" cy="699141"/>
            </a:xfrm>
            <a:prstGeom prst="bentConnector3">
              <a:avLst>
                <a:gd name="adj1" fmla="val 38231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8B344C5-3641-444C-B580-B702B6496308}"/>
                </a:ext>
              </a:extLst>
            </p:cNvPr>
            <p:cNvSpPr txBox="1"/>
            <p:nvPr/>
          </p:nvSpPr>
          <p:spPr>
            <a:xfrm>
              <a:off x="5438109" y="1368195"/>
              <a:ext cx="24845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ü"/>
              </a:pPr>
              <a:r>
                <a:rPr lang="en-US" sz="1400" dirty="0"/>
                <a:t>Lego Building Blocks for creating new differentiated service offerings</a:t>
              </a:r>
            </a:p>
          </p:txBody>
        </p:sp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B8E40E0F-C3A2-9544-A7C9-FB87251F7023}"/>
                </a:ext>
              </a:extLst>
            </p:cNvPr>
            <p:cNvCxnSpPr>
              <a:cxnSpLocks/>
            </p:cNvCxnSpPr>
            <p:nvPr/>
          </p:nvCxnSpPr>
          <p:spPr>
            <a:xfrm>
              <a:off x="4789710" y="4230711"/>
              <a:ext cx="2499290" cy="417142"/>
            </a:xfrm>
            <a:prstGeom prst="bentConnector3">
              <a:avLst>
                <a:gd name="adj1" fmla="val 26537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CCC866F-AF00-0F4E-B04C-B29C5536724C}"/>
                </a:ext>
              </a:extLst>
            </p:cNvPr>
            <p:cNvSpPr txBox="1"/>
            <p:nvPr/>
          </p:nvSpPr>
          <p:spPr>
            <a:xfrm>
              <a:off x="5490363" y="3727252"/>
              <a:ext cx="213295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ü"/>
              </a:pPr>
              <a:r>
                <a:rPr lang="en-US" sz="1400" dirty="0"/>
                <a:t>Co-Branded pro-active Managed Service Offering</a:t>
              </a:r>
            </a:p>
          </p:txBody>
        </p:sp>
        <p:cxnSp>
          <p:nvCxnSpPr>
            <p:cNvPr id="27" name="Elbow Connector 26">
              <a:extLst>
                <a:ext uri="{FF2B5EF4-FFF2-40B4-BE49-F238E27FC236}">
                  <a16:creationId xmlns:a16="http://schemas.microsoft.com/office/drawing/2014/main" id="{D88E30E4-5062-904E-8396-028622D79A1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35010" y="4230709"/>
              <a:ext cx="2370963" cy="424219"/>
            </a:xfrm>
            <a:prstGeom prst="bentConnector3">
              <a:avLst>
                <a:gd name="adj1" fmla="val 22752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E529DCA-DE7B-D946-B59E-752987C6B853}"/>
                </a:ext>
              </a:extLst>
            </p:cNvPr>
            <p:cNvSpPr txBox="1"/>
            <p:nvPr/>
          </p:nvSpPr>
          <p:spPr>
            <a:xfrm>
              <a:off x="288244" y="3909189"/>
              <a:ext cx="19492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ü"/>
              </a:pPr>
              <a:r>
                <a:rPr lang="en-US" sz="1400" dirty="0"/>
                <a:t>Co-branded BCP-DR managed  service offerings</a:t>
              </a:r>
            </a:p>
          </p:txBody>
        </p:sp>
        <p:cxnSp>
          <p:nvCxnSpPr>
            <p:cNvPr id="32" name="Elbow Connector 31">
              <a:extLst>
                <a:ext uri="{FF2B5EF4-FFF2-40B4-BE49-F238E27FC236}">
                  <a16:creationId xmlns:a16="http://schemas.microsoft.com/office/drawing/2014/main" id="{53C5A1C6-EE57-6E4F-892A-AADA055C10B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57935" y="2875733"/>
              <a:ext cx="2973917" cy="879571"/>
            </a:xfrm>
            <a:prstGeom prst="bentConnector3">
              <a:avLst>
                <a:gd name="adj1" fmla="val 39305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396D1FC-7344-7441-BB13-ADA108168E76}"/>
                </a:ext>
              </a:extLst>
            </p:cNvPr>
            <p:cNvSpPr txBox="1"/>
            <p:nvPr/>
          </p:nvSpPr>
          <p:spPr>
            <a:xfrm>
              <a:off x="288245" y="1814664"/>
              <a:ext cx="297391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ü"/>
              </a:pPr>
              <a:r>
                <a:rPr lang="en-US" sz="1400" dirty="0"/>
                <a:t>Multi &amp; Hybrid cloud</a:t>
              </a:r>
            </a:p>
            <a:p>
              <a:pPr marL="285750" indent="-285750">
                <a:buFont typeface="Wingdings" pitchFamily="2" charset="2"/>
                <a:buChar char="ü"/>
              </a:pPr>
              <a:r>
                <a:rPr lang="en-US" sz="1400" dirty="0"/>
                <a:t>Self-Service capability </a:t>
              </a:r>
            </a:p>
            <a:p>
              <a:pPr marL="285750" indent="-285750">
                <a:buFont typeface="Wingdings" pitchFamily="2" charset="2"/>
                <a:buChar char="ü"/>
              </a:pPr>
              <a:r>
                <a:rPr lang="en-US" sz="1400" dirty="0"/>
                <a:t>Automation tools </a:t>
              </a:r>
            </a:p>
          </p:txBody>
        </p: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A404875F-D216-2C4E-B923-AFB498FA6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834" y="162131"/>
            <a:ext cx="8393601" cy="712448"/>
          </a:xfrm>
        </p:spPr>
        <p:txBody>
          <a:bodyPr>
            <a:noAutofit/>
          </a:bodyPr>
          <a:lstStyle/>
          <a:p>
            <a:r>
              <a:rPr lang="en-US" sz="2400" dirty="0"/>
              <a:t>Cloud Business Drivers</a:t>
            </a:r>
          </a:p>
        </p:txBody>
      </p:sp>
    </p:spTree>
    <p:extLst>
      <p:ext uri="{BB962C8B-B14F-4D97-AF65-F5344CB8AC3E}">
        <p14:creationId xmlns:p14="http://schemas.microsoft.com/office/powerpoint/2010/main" val="393883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0E47-38D8-0C43-BDFB-6C818869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59" y="127085"/>
            <a:ext cx="10515600" cy="710640"/>
          </a:xfrm>
        </p:spPr>
        <p:txBody>
          <a:bodyPr/>
          <a:lstStyle/>
          <a:p>
            <a:r>
              <a:rPr lang="en-US" dirty="0"/>
              <a:t>IT Operating Model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D6791D-049B-C54E-AD73-4276BDB031E1}"/>
              </a:ext>
            </a:extLst>
          </p:cNvPr>
          <p:cNvSpPr/>
          <p:nvPr/>
        </p:nvSpPr>
        <p:spPr>
          <a:xfrm>
            <a:off x="340659" y="2734435"/>
            <a:ext cx="2034987" cy="16250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Operating Model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00B3CD0-D7A9-2C4D-B396-4B9D57761068}"/>
              </a:ext>
            </a:extLst>
          </p:cNvPr>
          <p:cNvSpPr/>
          <p:nvPr/>
        </p:nvSpPr>
        <p:spPr>
          <a:xfrm>
            <a:off x="3684495" y="942895"/>
            <a:ext cx="1732428" cy="14926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Support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CoreOps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3E8750-5863-D341-AC5E-14948A91B924}"/>
              </a:ext>
            </a:extLst>
          </p:cNvPr>
          <p:cNvSpPr/>
          <p:nvPr/>
        </p:nvSpPr>
        <p:spPr>
          <a:xfrm>
            <a:off x="3684494" y="4422483"/>
            <a:ext cx="1732428" cy="127747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Enhance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(DevOps)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991A65-87BB-2C45-A9D7-94548F77B8BA}"/>
              </a:ext>
            </a:extLst>
          </p:cNvPr>
          <p:cNvSpPr/>
          <p:nvPr/>
        </p:nvSpPr>
        <p:spPr>
          <a:xfrm>
            <a:off x="6979024" y="720446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Governance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E2DE77-D82E-7743-A22C-A382DC39745A}"/>
              </a:ext>
            </a:extLst>
          </p:cNvPr>
          <p:cNvSpPr/>
          <p:nvPr/>
        </p:nvSpPr>
        <p:spPr>
          <a:xfrm>
            <a:off x="9282954" y="689677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E472BF-1D6F-0B4D-92ED-F87F0E8F90B1}"/>
              </a:ext>
            </a:extLst>
          </p:cNvPr>
          <p:cNvSpPr/>
          <p:nvPr/>
        </p:nvSpPr>
        <p:spPr>
          <a:xfrm>
            <a:off x="6979024" y="2130684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Sourcing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45629A-A563-2D4F-B91B-030240EA81FF}"/>
              </a:ext>
            </a:extLst>
          </p:cNvPr>
          <p:cNvSpPr/>
          <p:nvPr/>
        </p:nvSpPr>
        <p:spPr>
          <a:xfrm>
            <a:off x="9282954" y="2162363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98E29E-187E-4640-8FF9-50C762606BE5}"/>
              </a:ext>
            </a:extLst>
          </p:cNvPr>
          <p:cNvSpPr/>
          <p:nvPr/>
        </p:nvSpPr>
        <p:spPr>
          <a:xfrm>
            <a:off x="6985747" y="4106256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Governance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831ED7-01A3-4149-B922-3E349DA72C59}"/>
              </a:ext>
            </a:extLst>
          </p:cNvPr>
          <p:cNvSpPr/>
          <p:nvPr/>
        </p:nvSpPr>
        <p:spPr>
          <a:xfrm>
            <a:off x="9289677" y="4075487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829168-0A9A-254F-BBFA-94E2F38A8EAB}"/>
              </a:ext>
            </a:extLst>
          </p:cNvPr>
          <p:cNvSpPr/>
          <p:nvPr/>
        </p:nvSpPr>
        <p:spPr>
          <a:xfrm>
            <a:off x="6985747" y="5516494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Sourcing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5681B9-84AC-EE48-A449-CAC9E9B65502}"/>
              </a:ext>
            </a:extLst>
          </p:cNvPr>
          <p:cNvSpPr/>
          <p:nvPr/>
        </p:nvSpPr>
        <p:spPr>
          <a:xfrm>
            <a:off x="9289677" y="5548173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5D9AF25-D5C2-514D-836A-3B316483B8E4}"/>
              </a:ext>
            </a:extLst>
          </p:cNvPr>
          <p:cNvCxnSpPr/>
          <p:nvPr/>
        </p:nvCxnSpPr>
        <p:spPr>
          <a:xfrm flipV="1">
            <a:off x="2595282" y="2162363"/>
            <a:ext cx="1089212" cy="772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06CD757-E0F1-9847-874D-2052D4E80DCC}"/>
              </a:ext>
            </a:extLst>
          </p:cNvPr>
          <p:cNvCxnSpPr/>
          <p:nvPr/>
        </p:nvCxnSpPr>
        <p:spPr>
          <a:xfrm>
            <a:off x="2375646" y="4106256"/>
            <a:ext cx="1080248" cy="1043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D106287-2125-EC48-BF40-8AB815DB2037}"/>
              </a:ext>
            </a:extLst>
          </p:cNvPr>
          <p:cNvSpPr/>
          <p:nvPr/>
        </p:nvSpPr>
        <p:spPr>
          <a:xfrm>
            <a:off x="6360459" y="365126"/>
            <a:ext cx="5212977" cy="28621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8A0C0F-1241-AD47-9788-0F587DD70B22}"/>
              </a:ext>
            </a:extLst>
          </p:cNvPr>
          <p:cNvSpPr/>
          <p:nvPr/>
        </p:nvSpPr>
        <p:spPr>
          <a:xfrm>
            <a:off x="6360459" y="3630707"/>
            <a:ext cx="5212977" cy="28621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50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0E47-38D8-0C43-BDFB-6C818869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59" y="127085"/>
            <a:ext cx="10515600" cy="710640"/>
          </a:xfrm>
        </p:spPr>
        <p:txBody>
          <a:bodyPr/>
          <a:lstStyle/>
          <a:p>
            <a:r>
              <a:rPr lang="en-US" dirty="0"/>
              <a:t>Conceptual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991A65-87BB-2C45-A9D7-94548F77B8BA}"/>
              </a:ext>
            </a:extLst>
          </p:cNvPr>
          <p:cNvSpPr/>
          <p:nvPr/>
        </p:nvSpPr>
        <p:spPr>
          <a:xfrm>
            <a:off x="710449" y="1318742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Governance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E2DE77-D82E-7743-A22C-A382DC39745A}"/>
              </a:ext>
            </a:extLst>
          </p:cNvPr>
          <p:cNvSpPr/>
          <p:nvPr/>
        </p:nvSpPr>
        <p:spPr>
          <a:xfrm>
            <a:off x="710451" y="2765157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E472BF-1D6F-0B4D-92ED-F87F0E8F90B1}"/>
              </a:ext>
            </a:extLst>
          </p:cNvPr>
          <p:cNvSpPr/>
          <p:nvPr/>
        </p:nvSpPr>
        <p:spPr>
          <a:xfrm>
            <a:off x="710450" y="4203392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Sourcing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45629A-A563-2D4F-B91B-030240EA81FF}"/>
              </a:ext>
            </a:extLst>
          </p:cNvPr>
          <p:cNvSpPr/>
          <p:nvPr/>
        </p:nvSpPr>
        <p:spPr>
          <a:xfrm>
            <a:off x="688046" y="5523956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56BCF5-A0AF-9B4A-82E6-E79E2CFA8DED}"/>
              </a:ext>
            </a:extLst>
          </p:cNvPr>
          <p:cNvCxnSpPr/>
          <p:nvPr/>
        </p:nvCxnSpPr>
        <p:spPr>
          <a:xfrm>
            <a:off x="3146612" y="941294"/>
            <a:ext cx="0" cy="5773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ACB2986-0248-F141-9180-82B6E145CD72}"/>
              </a:ext>
            </a:extLst>
          </p:cNvPr>
          <p:cNvSpPr/>
          <p:nvPr/>
        </p:nvSpPr>
        <p:spPr>
          <a:xfrm>
            <a:off x="3617259" y="1328313"/>
            <a:ext cx="3334868" cy="753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Budget</a:t>
            </a:r>
          </a:p>
          <a:p>
            <a:r>
              <a:rPr lang="en-US" sz="1200" dirty="0">
                <a:solidFill>
                  <a:schemeClr val="tx1"/>
                </a:solidFill>
              </a:rPr>
              <a:t>Operating support (24x7)</a:t>
            </a:r>
          </a:p>
          <a:p>
            <a:r>
              <a:rPr lang="en-US" sz="1200" dirty="0">
                <a:solidFill>
                  <a:schemeClr val="tx1"/>
                </a:solidFill>
              </a:rPr>
              <a:t>SLAs &amp; Metrics</a:t>
            </a:r>
          </a:p>
          <a:p>
            <a:r>
              <a:rPr lang="en-US" sz="1200" dirty="0">
                <a:solidFill>
                  <a:schemeClr val="tx1"/>
                </a:solidFill>
              </a:rPr>
              <a:t>Tools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7924BB-5A9D-8848-B835-509C6C4AB316}"/>
              </a:ext>
            </a:extLst>
          </p:cNvPr>
          <p:cNvCxnSpPr>
            <a:cxnSpLocks/>
          </p:cNvCxnSpPr>
          <p:nvPr/>
        </p:nvCxnSpPr>
        <p:spPr>
          <a:xfrm>
            <a:off x="7602070" y="783937"/>
            <a:ext cx="0" cy="5936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02DB824-AFD5-E24B-928E-4B1E39392F76}"/>
              </a:ext>
            </a:extLst>
          </p:cNvPr>
          <p:cNvSpPr/>
          <p:nvPr/>
        </p:nvSpPr>
        <p:spPr>
          <a:xfrm>
            <a:off x="3617259" y="778690"/>
            <a:ext cx="3334868" cy="3374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Support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288B3D-43CA-9343-AD11-F81A7D52E3C4}"/>
              </a:ext>
            </a:extLst>
          </p:cNvPr>
          <p:cNvSpPr/>
          <p:nvPr/>
        </p:nvSpPr>
        <p:spPr>
          <a:xfrm>
            <a:off x="8292354" y="802658"/>
            <a:ext cx="3334866" cy="3374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Enhance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7315FC-D405-0646-A278-5ECE3CDB34A7}"/>
              </a:ext>
            </a:extLst>
          </p:cNvPr>
          <p:cNvSpPr/>
          <p:nvPr/>
        </p:nvSpPr>
        <p:spPr>
          <a:xfrm>
            <a:off x="3617259" y="2616097"/>
            <a:ext cx="3366244" cy="10702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Production Release</a:t>
            </a:r>
          </a:p>
          <a:p>
            <a:r>
              <a:rPr lang="en-US" sz="1200" dirty="0">
                <a:solidFill>
                  <a:schemeClr val="tx1"/>
                </a:solidFill>
              </a:rPr>
              <a:t>Risk Definition</a:t>
            </a:r>
          </a:p>
          <a:p>
            <a:r>
              <a:rPr lang="en-US" sz="1200" dirty="0">
                <a:solidFill>
                  <a:schemeClr val="tx1"/>
                </a:solidFill>
              </a:rPr>
              <a:t>Escalation Mechanism</a:t>
            </a:r>
          </a:p>
          <a:p>
            <a:r>
              <a:rPr lang="en-US" sz="1200" dirty="0">
                <a:solidFill>
                  <a:schemeClr val="tx1"/>
                </a:solidFill>
              </a:rPr>
              <a:t>QA Testing – big focus on Regression Testing</a:t>
            </a:r>
          </a:p>
          <a:p>
            <a:r>
              <a:rPr lang="en-US" sz="1200" dirty="0">
                <a:solidFill>
                  <a:schemeClr val="tx1"/>
                </a:solidFill>
              </a:rPr>
              <a:t>Minor Fixes and schedule of releases</a:t>
            </a:r>
          </a:p>
          <a:p>
            <a:r>
              <a:rPr lang="en-US" sz="1200" dirty="0">
                <a:solidFill>
                  <a:schemeClr val="tx1"/>
                </a:solidFill>
              </a:rPr>
              <a:t>BCP /DR planning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CCDF6A-4BBC-3441-81AC-4C05786C033F}"/>
              </a:ext>
            </a:extLst>
          </p:cNvPr>
          <p:cNvSpPr/>
          <p:nvPr/>
        </p:nvSpPr>
        <p:spPr>
          <a:xfrm>
            <a:off x="3617259" y="4108925"/>
            <a:ext cx="3334868" cy="10417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Employee : Outsource Staff for key roles</a:t>
            </a:r>
          </a:p>
          <a:p>
            <a:r>
              <a:rPr lang="en-US" sz="1200" dirty="0">
                <a:solidFill>
                  <a:schemeClr val="tx1"/>
                </a:solidFill>
              </a:rPr>
              <a:t>Vendor Partnerships</a:t>
            </a:r>
          </a:p>
          <a:p>
            <a:r>
              <a:rPr lang="en-US" sz="1200" dirty="0">
                <a:solidFill>
                  <a:schemeClr val="tx1"/>
                </a:solidFill>
              </a:rPr>
              <a:t>Contract Management</a:t>
            </a:r>
          </a:p>
          <a:p>
            <a:r>
              <a:rPr lang="en-US" sz="1200" dirty="0">
                <a:solidFill>
                  <a:schemeClr val="tx1"/>
                </a:solidFill>
              </a:rPr>
              <a:t>Infrastructure Support </a:t>
            </a:r>
          </a:p>
          <a:p>
            <a:r>
              <a:rPr lang="en-US" sz="1200" dirty="0">
                <a:solidFill>
                  <a:schemeClr val="tx1"/>
                </a:solidFill>
              </a:rPr>
              <a:t>Help Desk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B966F9-3052-B14F-972B-E67FFAD52286}"/>
              </a:ext>
            </a:extLst>
          </p:cNvPr>
          <p:cNvSpPr/>
          <p:nvPr/>
        </p:nvSpPr>
        <p:spPr>
          <a:xfrm>
            <a:off x="3617259" y="5533527"/>
            <a:ext cx="3334868" cy="753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Deep alignment with Business</a:t>
            </a:r>
          </a:p>
          <a:p>
            <a:r>
              <a:rPr lang="en-US" sz="1200" dirty="0">
                <a:solidFill>
                  <a:schemeClr val="tx1"/>
                </a:solidFill>
              </a:rPr>
              <a:t>PMO Structure</a:t>
            </a:r>
          </a:p>
          <a:p>
            <a:r>
              <a:rPr lang="en-US" sz="1200" dirty="0">
                <a:solidFill>
                  <a:schemeClr val="tx1"/>
                </a:solidFill>
              </a:rPr>
              <a:t>Staff Rotation</a:t>
            </a:r>
          </a:p>
          <a:p>
            <a:r>
              <a:rPr lang="en-US" sz="1200" dirty="0">
                <a:solidFill>
                  <a:schemeClr val="tx1"/>
                </a:solidFill>
              </a:rPr>
              <a:t>Data Governance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010B76-10B6-1448-B093-187F35E79FFD}"/>
              </a:ext>
            </a:extLst>
          </p:cNvPr>
          <p:cNvSpPr/>
          <p:nvPr/>
        </p:nvSpPr>
        <p:spPr>
          <a:xfrm>
            <a:off x="8292354" y="1328313"/>
            <a:ext cx="3334868" cy="753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Business Strategy </a:t>
            </a:r>
          </a:p>
          <a:p>
            <a:r>
              <a:rPr lang="en-US" sz="1200" dirty="0">
                <a:solidFill>
                  <a:schemeClr val="tx1"/>
                </a:solidFill>
              </a:rPr>
              <a:t>Capability Roadmap</a:t>
            </a:r>
          </a:p>
          <a:p>
            <a:r>
              <a:rPr lang="en-US" sz="1200" dirty="0">
                <a:solidFill>
                  <a:schemeClr val="tx1"/>
                </a:solidFill>
              </a:rPr>
              <a:t>Business Value Realization Prioritization</a:t>
            </a:r>
          </a:p>
          <a:p>
            <a:r>
              <a:rPr lang="en-US" sz="1200" dirty="0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070CCB-6A28-0944-A16E-7B8FC8D1D407}"/>
              </a:ext>
            </a:extLst>
          </p:cNvPr>
          <p:cNvSpPr/>
          <p:nvPr/>
        </p:nvSpPr>
        <p:spPr>
          <a:xfrm>
            <a:off x="8292354" y="2566078"/>
            <a:ext cx="3334868" cy="11703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3M-6M-12M Plan</a:t>
            </a:r>
          </a:p>
          <a:p>
            <a:r>
              <a:rPr lang="en-US" sz="1200" dirty="0">
                <a:solidFill>
                  <a:schemeClr val="tx1"/>
                </a:solidFill>
              </a:rPr>
              <a:t>Architecture Definition </a:t>
            </a:r>
          </a:p>
          <a:p>
            <a:r>
              <a:rPr lang="en-US" sz="1200" dirty="0">
                <a:solidFill>
                  <a:schemeClr val="tx1"/>
                </a:solidFill>
              </a:rPr>
              <a:t>Design Decision Choices</a:t>
            </a:r>
          </a:p>
          <a:p>
            <a:r>
              <a:rPr lang="en-US" sz="1200" dirty="0">
                <a:solidFill>
                  <a:schemeClr val="tx1"/>
                </a:solidFill>
              </a:rPr>
              <a:t>Technology Choices</a:t>
            </a:r>
          </a:p>
          <a:p>
            <a:r>
              <a:rPr lang="en-US" sz="1200" dirty="0">
                <a:solidFill>
                  <a:schemeClr val="tx1"/>
                </a:solidFill>
              </a:rPr>
              <a:t>Milestone | Deliverables |Schedule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5DF6FB-BAC9-B944-9B52-8240E801D792}"/>
              </a:ext>
            </a:extLst>
          </p:cNvPr>
          <p:cNvSpPr/>
          <p:nvPr/>
        </p:nvSpPr>
        <p:spPr>
          <a:xfrm>
            <a:off x="8292354" y="4100116"/>
            <a:ext cx="3334868" cy="10594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Employee: Outsource staff for key roles</a:t>
            </a:r>
          </a:p>
          <a:p>
            <a:r>
              <a:rPr lang="en-US" sz="1200" dirty="0">
                <a:solidFill>
                  <a:schemeClr val="tx1"/>
                </a:solidFill>
              </a:rPr>
              <a:t>External Review and Vendor Partnerships</a:t>
            </a:r>
          </a:p>
          <a:p>
            <a:r>
              <a:rPr lang="en-US" sz="1200" dirty="0">
                <a:solidFill>
                  <a:schemeClr val="tx1"/>
                </a:solidFill>
              </a:rPr>
              <a:t>Contract Management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BD98B53-E9DA-E645-A18C-D4F0B440F9A1}"/>
              </a:ext>
            </a:extLst>
          </p:cNvPr>
          <p:cNvSpPr/>
          <p:nvPr/>
        </p:nvSpPr>
        <p:spPr>
          <a:xfrm>
            <a:off x="8292354" y="5524718"/>
            <a:ext cx="3334868" cy="7706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Agile / Scrum Framework </a:t>
            </a:r>
          </a:p>
          <a:p>
            <a:r>
              <a:rPr lang="en-US" sz="1200" dirty="0">
                <a:solidFill>
                  <a:schemeClr val="tx1"/>
                </a:solidFill>
              </a:rPr>
              <a:t>Sprints</a:t>
            </a:r>
          </a:p>
          <a:p>
            <a:r>
              <a:rPr lang="en-US" sz="1200" dirty="0">
                <a:solidFill>
                  <a:schemeClr val="tx1"/>
                </a:solidFill>
              </a:rPr>
              <a:t>Product Managers/Business Analysts</a:t>
            </a:r>
          </a:p>
          <a:p>
            <a:r>
              <a:rPr lang="en-US" sz="1200" dirty="0">
                <a:solidFill>
                  <a:schemeClr val="tx1"/>
                </a:solidFill>
              </a:rPr>
              <a:t>Data Governance</a:t>
            </a:r>
          </a:p>
        </p:txBody>
      </p:sp>
    </p:spTree>
    <p:extLst>
      <p:ext uri="{BB962C8B-B14F-4D97-AF65-F5344CB8AC3E}">
        <p14:creationId xmlns:p14="http://schemas.microsoft.com/office/powerpoint/2010/main" val="244151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0E47-38D8-0C43-BDFB-6C818869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640"/>
          </a:xfrm>
        </p:spPr>
        <p:txBody>
          <a:bodyPr/>
          <a:lstStyle/>
          <a:p>
            <a:r>
              <a:rPr lang="en-US" dirty="0"/>
              <a:t>Cadence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8E2DC69-D226-F741-B0F3-107CB835EC35}"/>
              </a:ext>
            </a:extLst>
          </p:cNvPr>
          <p:cNvSpPr/>
          <p:nvPr/>
        </p:nvSpPr>
        <p:spPr>
          <a:xfrm>
            <a:off x="726141" y="1467784"/>
            <a:ext cx="2034987" cy="16250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Biz Strategy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AB706F5-16C4-8F45-A90E-A0F64B709710}"/>
              </a:ext>
            </a:extLst>
          </p:cNvPr>
          <p:cNvSpPr/>
          <p:nvPr/>
        </p:nvSpPr>
        <p:spPr>
          <a:xfrm>
            <a:off x="4250392" y="1467784"/>
            <a:ext cx="2034987" cy="16250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Portfolio Strategy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D6791D-049B-C54E-AD73-4276BDB031E1}"/>
              </a:ext>
            </a:extLst>
          </p:cNvPr>
          <p:cNvSpPr/>
          <p:nvPr/>
        </p:nvSpPr>
        <p:spPr>
          <a:xfrm>
            <a:off x="7900149" y="1353670"/>
            <a:ext cx="2034987" cy="16250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Operating Model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073C31B2-F4E8-0D4D-8DBB-A4B292E6024A}"/>
              </a:ext>
            </a:extLst>
          </p:cNvPr>
          <p:cNvSpPr/>
          <p:nvPr/>
        </p:nvSpPr>
        <p:spPr>
          <a:xfrm>
            <a:off x="3186954" y="2166190"/>
            <a:ext cx="779929" cy="281175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4AFA1105-8D86-314B-86BD-F95F304F223F}"/>
              </a:ext>
            </a:extLst>
          </p:cNvPr>
          <p:cNvSpPr/>
          <p:nvPr/>
        </p:nvSpPr>
        <p:spPr>
          <a:xfrm>
            <a:off x="6702799" y="2125849"/>
            <a:ext cx="779929" cy="281175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7542DE-AD0D-2C4D-A08F-A0C63AA4A8F3}"/>
              </a:ext>
            </a:extLst>
          </p:cNvPr>
          <p:cNvSpPr txBox="1"/>
          <p:nvPr/>
        </p:nvSpPr>
        <p:spPr>
          <a:xfrm>
            <a:off x="1055785" y="3300176"/>
            <a:ext cx="137569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Semi-Annual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886C1A-30DC-B949-A6D7-1A0F1B9B6E86}"/>
              </a:ext>
            </a:extLst>
          </p:cNvPr>
          <p:cNvSpPr txBox="1"/>
          <p:nvPr/>
        </p:nvSpPr>
        <p:spPr>
          <a:xfrm>
            <a:off x="4726967" y="3300176"/>
            <a:ext cx="107984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Quarterly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F82D6E-D973-924E-B864-E5F58724223A}"/>
              </a:ext>
            </a:extLst>
          </p:cNvPr>
          <p:cNvSpPr txBox="1"/>
          <p:nvPr/>
        </p:nvSpPr>
        <p:spPr>
          <a:xfrm>
            <a:off x="8548678" y="3300176"/>
            <a:ext cx="97924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Monthly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0371505-7B79-6249-9736-20781C33C949}"/>
              </a:ext>
            </a:extLst>
          </p:cNvPr>
          <p:cNvSpPr/>
          <p:nvPr/>
        </p:nvSpPr>
        <p:spPr>
          <a:xfrm>
            <a:off x="6756089" y="4543842"/>
            <a:ext cx="1656103" cy="61799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Support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CoreOps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0FF84D9-5A66-5D49-815D-FD728A0159BA}"/>
              </a:ext>
            </a:extLst>
          </p:cNvPr>
          <p:cNvSpPr/>
          <p:nvPr/>
        </p:nvSpPr>
        <p:spPr>
          <a:xfrm>
            <a:off x="9796180" y="4517977"/>
            <a:ext cx="1559859" cy="64385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Enhance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(DevOps)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140DB8-F7EF-9B48-91F3-FE5AC149C2E2}"/>
              </a:ext>
            </a:extLst>
          </p:cNvPr>
          <p:cNvSpPr txBox="1"/>
          <p:nvPr/>
        </p:nvSpPr>
        <p:spPr>
          <a:xfrm>
            <a:off x="7166720" y="5338932"/>
            <a:ext cx="64793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Daily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964125-88C0-2B46-BFDE-15DAC44662CE}"/>
              </a:ext>
            </a:extLst>
          </p:cNvPr>
          <p:cNvSpPr txBox="1"/>
          <p:nvPr/>
        </p:nvSpPr>
        <p:spPr>
          <a:xfrm>
            <a:off x="10252142" y="5338932"/>
            <a:ext cx="87350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Weekly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35D70D-F144-5041-ADF9-B92E686355F7}"/>
              </a:ext>
            </a:extLst>
          </p:cNvPr>
          <p:cNvCxnSpPr>
            <a:cxnSpLocks/>
          </p:cNvCxnSpPr>
          <p:nvPr/>
        </p:nvCxnSpPr>
        <p:spPr>
          <a:xfrm flipH="1">
            <a:off x="7584141" y="3092824"/>
            <a:ext cx="779930" cy="1129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D0160B-EC96-5848-862E-CD6B4CA6DAA0}"/>
              </a:ext>
            </a:extLst>
          </p:cNvPr>
          <p:cNvCxnSpPr>
            <a:cxnSpLocks/>
          </p:cNvCxnSpPr>
          <p:nvPr/>
        </p:nvCxnSpPr>
        <p:spPr>
          <a:xfrm>
            <a:off x="9708776" y="2978710"/>
            <a:ext cx="968189" cy="1243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16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0E47-38D8-0C43-BDFB-6C818869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58" y="123135"/>
            <a:ext cx="10515600" cy="710640"/>
          </a:xfrm>
        </p:spPr>
        <p:txBody>
          <a:bodyPr/>
          <a:lstStyle/>
          <a:p>
            <a:r>
              <a:rPr lang="en-US" dirty="0"/>
              <a:t>Roles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9EE9C31-D9E8-1B4A-8445-A8E4B7C6CE06}"/>
              </a:ext>
            </a:extLst>
          </p:cNvPr>
          <p:cNvGrpSpPr/>
          <p:nvPr/>
        </p:nvGrpSpPr>
        <p:grpSpPr>
          <a:xfrm>
            <a:off x="4220582" y="1277469"/>
            <a:ext cx="1922932" cy="1882980"/>
            <a:chOff x="8283386" y="1709554"/>
            <a:chExt cx="2111190" cy="142668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E6FB374-5165-154F-9531-516F6CBA54B6}"/>
                </a:ext>
              </a:extLst>
            </p:cNvPr>
            <p:cNvSpPr/>
            <p:nvPr/>
          </p:nvSpPr>
          <p:spPr>
            <a:xfrm>
              <a:off x="8283387" y="1709554"/>
              <a:ext cx="2111189" cy="672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Project Manager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981EA0F-7B53-E342-B39A-8660831D8E69}"/>
                </a:ext>
              </a:extLst>
            </p:cNvPr>
            <p:cNvSpPr txBox="1"/>
            <p:nvPr/>
          </p:nvSpPr>
          <p:spPr>
            <a:xfrm>
              <a:off x="8283386" y="2413337"/>
              <a:ext cx="2111189" cy="7229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Project Schedule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Milestones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Deliverables</a:t>
              </a:r>
            </a:p>
            <a:p>
              <a:pPr marL="285750" indent="-285750">
                <a:buFont typeface="Wingdings" pitchFamily="2" charset="2"/>
                <a:buChar char="Ø"/>
              </a:pPr>
              <a:endParaRPr lang="en-US" sz="14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30F79B4-857F-AD41-A8CD-6482872504A5}"/>
              </a:ext>
            </a:extLst>
          </p:cNvPr>
          <p:cNvGrpSpPr/>
          <p:nvPr/>
        </p:nvGrpSpPr>
        <p:grpSpPr>
          <a:xfrm>
            <a:off x="188258" y="1277470"/>
            <a:ext cx="1922931" cy="2156710"/>
            <a:chOff x="551329" y="1882588"/>
            <a:chExt cx="2111189" cy="163408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FBB2F73-F4E1-E440-B55E-C871B7E26AC5}"/>
                </a:ext>
              </a:extLst>
            </p:cNvPr>
            <p:cNvSpPr/>
            <p:nvPr/>
          </p:nvSpPr>
          <p:spPr>
            <a:xfrm>
              <a:off x="551329" y="1882588"/>
              <a:ext cx="2111189" cy="672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Product Owner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B1A0A92-B51F-B94A-A79C-BAD18EA230BC}"/>
                </a:ext>
              </a:extLst>
            </p:cNvPr>
            <p:cNvSpPr txBox="1"/>
            <p:nvPr/>
          </p:nvSpPr>
          <p:spPr>
            <a:xfrm>
              <a:off x="551329" y="2562563"/>
              <a:ext cx="211118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Product Vision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Prioritization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Budgeting</a:t>
              </a:r>
            </a:p>
            <a:p>
              <a:endParaRPr lang="en-US" sz="14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51D5995-898F-E049-9EBC-77369E5F2877}"/>
              </a:ext>
            </a:extLst>
          </p:cNvPr>
          <p:cNvGrpSpPr/>
          <p:nvPr/>
        </p:nvGrpSpPr>
        <p:grpSpPr>
          <a:xfrm>
            <a:off x="2204420" y="1277470"/>
            <a:ext cx="1922931" cy="2430999"/>
            <a:chOff x="4491317" y="1815352"/>
            <a:chExt cx="2111189" cy="184190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BD13351-1A1F-4147-A541-247BCA86E38B}"/>
                </a:ext>
              </a:extLst>
            </p:cNvPr>
            <p:cNvSpPr/>
            <p:nvPr/>
          </p:nvSpPr>
          <p:spPr>
            <a:xfrm>
              <a:off x="4491317" y="1815352"/>
              <a:ext cx="2111189" cy="672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Program Manager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E370E3A-E299-404D-80A5-2B3D356022DA}"/>
                </a:ext>
              </a:extLst>
            </p:cNvPr>
            <p:cNvSpPr txBox="1"/>
            <p:nvPr/>
          </p:nvSpPr>
          <p:spPr>
            <a:xfrm>
              <a:off x="4491317" y="2487705"/>
              <a:ext cx="2111189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Process </a:t>
              </a:r>
              <a:r>
                <a:rPr lang="en-US" sz="1400" dirty="0" err="1"/>
                <a:t>Mgmt</a:t>
              </a:r>
              <a:endParaRPr lang="en-US" sz="1400" dirty="0"/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Communication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Team </a:t>
              </a:r>
              <a:r>
                <a:rPr lang="en-US" sz="1400" dirty="0" err="1"/>
                <a:t>Mgmt</a:t>
              </a:r>
              <a:endParaRPr lang="en-US" sz="1400" dirty="0"/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Quality Check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Release 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8DC57B4-1C41-2247-9C7E-0E5C91268B29}"/>
              </a:ext>
            </a:extLst>
          </p:cNvPr>
          <p:cNvGrpSpPr/>
          <p:nvPr/>
        </p:nvGrpSpPr>
        <p:grpSpPr>
          <a:xfrm>
            <a:off x="10269068" y="1277469"/>
            <a:ext cx="1922932" cy="2098425"/>
            <a:chOff x="8283386" y="1709554"/>
            <a:chExt cx="2111190" cy="158992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6E447A-6F17-9746-BC17-F21B191C23CE}"/>
                </a:ext>
              </a:extLst>
            </p:cNvPr>
            <p:cNvSpPr/>
            <p:nvPr/>
          </p:nvSpPr>
          <p:spPr>
            <a:xfrm>
              <a:off x="8283387" y="1709554"/>
              <a:ext cx="2111189" cy="672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Cloud Architect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A0506E7-D74A-554A-A6DE-99C4B862BE6B}"/>
                </a:ext>
              </a:extLst>
            </p:cNvPr>
            <p:cNvSpPr txBox="1"/>
            <p:nvPr/>
          </p:nvSpPr>
          <p:spPr>
            <a:xfrm>
              <a:off x="8283386" y="2413337"/>
              <a:ext cx="2111189" cy="886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Orchestrating in the cloud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Define Cloud Reference Architecture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6CA5970-6F2B-5541-A903-7A330CED8DF8}"/>
              </a:ext>
            </a:extLst>
          </p:cNvPr>
          <p:cNvGrpSpPr/>
          <p:nvPr/>
        </p:nvGrpSpPr>
        <p:grpSpPr>
          <a:xfrm>
            <a:off x="6236745" y="1277469"/>
            <a:ext cx="1922931" cy="2497889"/>
            <a:chOff x="551329" y="1882588"/>
            <a:chExt cx="2111189" cy="189258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C346E18-8AA0-DB43-8BED-1D18307F50DA}"/>
                </a:ext>
              </a:extLst>
            </p:cNvPr>
            <p:cNvSpPr/>
            <p:nvPr/>
          </p:nvSpPr>
          <p:spPr>
            <a:xfrm>
              <a:off x="551329" y="1882588"/>
              <a:ext cx="2111189" cy="672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Business Analyst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04F337E-5410-1445-A39D-4C03B5986F31}"/>
                </a:ext>
              </a:extLst>
            </p:cNvPr>
            <p:cNvSpPr txBox="1"/>
            <p:nvPr/>
          </p:nvSpPr>
          <p:spPr>
            <a:xfrm>
              <a:off x="551329" y="2562563"/>
              <a:ext cx="2111189" cy="1212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Business Process Definition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work flow definition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Exception process definition</a:t>
              </a:r>
            </a:p>
            <a:p>
              <a:endParaRPr lang="en-US" sz="1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45C260D-B0F5-AE4D-B2F0-7E7D73A6ACA3}"/>
              </a:ext>
            </a:extLst>
          </p:cNvPr>
          <p:cNvGrpSpPr/>
          <p:nvPr/>
        </p:nvGrpSpPr>
        <p:grpSpPr>
          <a:xfrm>
            <a:off x="8252907" y="1277471"/>
            <a:ext cx="1922931" cy="1841499"/>
            <a:chOff x="4491317" y="1815352"/>
            <a:chExt cx="2111189" cy="139525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95B9E7A-6467-CF41-A65B-A544FC39E29B}"/>
                </a:ext>
              </a:extLst>
            </p:cNvPr>
            <p:cNvSpPr/>
            <p:nvPr/>
          </p:nvSpPr>
          <p:spPr>
            <a:xfrm>
              <a:off x="4491317" y="1815352"/>
              <a:ext cx="2111189" cy="672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Tech Architect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E3857B2-5D4F-BE43-9983-CCD0FB0911BD}"/>
                </a:ext>
              </a:extLst>
            </p:cNvPr>
            <p:cNvSpPr txBox="1"/>
            <p:nvPr/>
          </p:nvSpPr>
          <p:spPr>
            <a:xfrm>
              <a:off x="4491317" y="2487705"/>
              <a:ext cx="2111189" cy="722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Architect Definition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Technology Selection</a:t>
              </a:r>
            </a:p>
            <a:p>
              <a:pPr marL="285750" indent="-285750">
                <a:buFont typeface="Wingdings" pitchFamily="2" charset="2"/>
                <a:buChar char="Ø"/>
              </a:pPr>
              <a:endParaRPr lang="en-US" sz="14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653C34C-3157-9740-94B7-E05D3305B7C7}"/>
              </a:ext>
            </a:extLst>
          </p:cNvPr>
          <p:cNvGrpSpPr/>
          <p:nvPr/>
        </p:nvGrpSpPr>
        <p:grpSpPr>
          <a:xfrm>
            <a:off x="4220581" y="4044166"/>
            <a:ext cx="1922932" cy="1667538"/>
            <a:chOff x="8283386" y="1709554"/>
            <a:chExt cx="2111190" cy="126344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3890DD4-899A-E043-8AC9-4A4562EA97E7}"/>
                </a:ext>
              </a:extLst>
            </p:cNvPr>
            <p:cNvSpPr/>
            <p:nvPr/>
          </p:nvSpPr>
          <p:spPr>
            <a:xfrm>
              <a:off x="8283387" y="1709554"/>
              <a:ext cx="2111189" cy="672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DB Engineer*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D167EE4-54CB-1047-A223-909D6EA6C203}"/>
                </a:ext>
              </a:extLst>
            </p:cNvPr>
            <p:cNvSpPr txBox="1"/>
            <p:nvPr/>
          </p:nvSpPr>
          <p:spPr>
            <a:xfrm>
              <a:off x="8283386" y="2413337"/>
              <a:ext cx="2111189" cy="559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Choice of DB tools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Reporting tools</a:t>
              </a:r>
            </a:p>
            <a:p>
              <a:pPr marL="285750" indent="-285750">
                <a:buFont typeface="Wingdings" pitchFamily="2" charset="2"/>
                <a:buChar char="Ø"/>
              </a:pPr>
              <a:endParaRPr lang="en-US" sz="14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CBB26EE-D793-F943-BC28-828B663D5715}"/>
              </a:ext>
            </a:extLst>
          </p:cNvPr>
          <p:cNvGrpSpPr/>
          <p:nvPr/>
        </p:nvGrpSpPr>
        <p:grpSpPr>
          <a:xfrm>
            <a:off x="188257" y="4044166"/>
            <a:ext cx="1922931" cy="1851559"/>
            <a:chOff x="551329" y="1882588"/>
            <a:chExt cx="2111189" cy="140287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2F2F780-41BD-1243-8C36-4B62BD5C838F}"/>
                </a:ext>
              </a:extLst>
            </p:cNvPr>
            <p:cNvSpPr/>
            <p:nvPr/>
          </p:nvSpPr>
          <p:spPr>
            <a:xfrm>
              <a:off x="551329" y="1882588"/>
              <a:ext cx="2111189" cy="672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Developer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1F32CBE-B5B9-4340-A9A5-D0AC2A99EBB5}"/>
                </a:ext>
              </a:extLst>
            </p:cNvPr>
            <p:cNvSpPr txBox="1"/>
            <p:nvPr/>
          </p:nvSpPr>
          <p:spPr>
            <a:xfrm>
              <a:off x="551329" y="2562563"/>
              <a:ext cx="2111189" cy="722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Full Stack developer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Programming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Unit Testing</a:t>
              </a:r>
            </a:p>
            <a:p>
              <a:endParaRPr lang="en-US" sz="14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6419BCE-9021-904E-B26D-38457DFC5DDA}"/>
              </a:ext>
            </a:extLst>
          </p:cNvPr>
          <p:cNvGrpSpPr/>
          <p:nvPr/>
        </p:nvGrpSpPr>
        <p:grpSpPr>
          <a:xfrm>
            <a:off x="2204419" y="4044166"/>
            <a:ext cx="1922931" cy="2056943"/>
            <a:chOff x="4491317" y="1815352"/>
            <a:chExt cx="2111189" cy="155849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C7B2D4C-8154-C348-B5C3-82794A22AC62}"/>
                </a:ext>
              </a:extLst>
            </p:cNvPr>
            <p:cNvSpPr/>
            <p:nvPr/>
          </p:nvSpPr>
          <p:spPr>
            <a:xfrm>
              <a:off x="4491317" y="1815352"/>
              <a:ext cx="2111189" cy="672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QA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E6A658B-12F2-7F47-8C24-61197BDA3027}"/>
                </a:ext>
              </a:extLst>
            </p:cNvPr>
            <p:cNvSpPr txBox="1"/>
            <p:nvPr/>
          </p:nvSpPr>
          <p:spPr>
            <a:xfrm>
              <a:off x="4491317" y="2487705"/>
              <a:ext cx="2111189" cy="886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Testing the application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Performance Testing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Regression </a:t>
              </a:r>
              <a:r>
                <a:rPr lang="en-US" sz="1400" dirty="0" err="1"/>
                <a:t>testig</a:t>
              </a:r>
              <a:endParaRPr lang="en-US" sz="14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B0ADE2F-2FC7-E24E-934D-42E7CF05F03C}"/>
              </a:ext>
            </a:extLst>
          </p:cNvPr>
          <p:cNvGrpSpPr/>
          <p:nvPr/>
        </p:nvGrpSpPr>
        <p:grpSpPr>
          <a:xfrm>
            <a:off x="10269067" y="4044165"/>
            <a:ext cx="1922932" cy="2744756"/>
            <a:chOff x="8283386" y="1709554"/>
            <a:chExt cx="2111190" cy="2079629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010F4E1-575D-494F-A66F-8B924ACA2CC3}"/>
                </a:ext>
              </a:extLst>
            </p:cNvPr>
            <p:cNvSpPr/>
            <p:nvPr/>
          </p:nvSpPr>
          <p:spPr>
            <a:xfrm>
              <a:off x="8283387" y="1709554"/>
              <a:ext cx="2111189" cy="672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Release Manager*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83CB431-75BD-B24B-AFCB-1D5A249CD0D2}"/>
                </a:ext>
              </a:extLst>
            </p:cNvPr>
            <p:cNvSpPr txBox="1"/>
            <p:nvPr/>
          </p:nvSpPr>
          <p:spPr>
            <a:xfrm>
              <a:off x="8283386" y="2413337"/>
              <a:ext cx="2111189" cy="13758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Go-</a:t>
              </a:r>
              <a:r>
                <a:rPr lang="en-US" sz="1400" dirty="0" err="1"/>
                <a:t>NoGo</a:t>
              </a:r>
              <a:r>
                <a:rPr lang="en-US" sz="1400" dirty="0"/>
                <a:t> decisions on release to production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Release coordination across units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Manager or manager-delegate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0185A7A-C914-7740-AE0B-C7CD4DF9FE20}"/>
              </a:ext>
            </a:extLst>
          </p:cNvPr>
          <p:cNvGrpSpPr/>
          <p:nvPr/>
        </p:nvGrpSpPr>
        <p:grpSpPr>
          <a:xfrm>
            <a:off x="6236744" y="4044168"/>
            <a:ext cx="1922931" cy="1851559"/>
            <a:chOff x="551329" y="1882588"/>
            <a:chExt cx="2111189" cy="1402876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043CDA0-55C8-EA41-947C-F467FF2E9726}"/>
                </a:ext>
              </a:extLst>
            </p:cNvPr>
            <p:cNvSpPr/>
            <p:nvPr/>
          </p:nvSpPr>
          <p:spPr>
            <a:xfrm>
              <a:off x="551329" y="1882588"/>
              <a:ext cx="2111189" cy="672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UX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00439BD-AD2B-C846-B68B-E3A02999127F}"/>
                </a:ext>
              </a:extLst>
            </p:cNvPr>
            <p:cNvSpPr txBox="1"/>
            <p:nvPr/>
          </p:nvSpPr>
          <p:spPr>
            <a:xfrm>
              <a:off x="551329" y="2562563"/>
              <a:ext cx="2111189" cy="7229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User experience design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Aesthetic design</a:t>
              </a:r>
            </a:p>
            <a:p>
              <a:pPr marL="285750" indent="-285750">
                <a:buFont typeface="Wingdings" pitchFamily="2" charset="2"/>
                <a:buChar char="Ø"/>
              </a:pPr>
              <a:endParaRPr lang="en-US" sz="140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83533CE-DF09-8A45-82CB-895A75097E0E}"/>
              </a:ext>
            </a:extLst>
          </p:cNvPr>
          <p:cNvGrpSpPr/>
          <p:nvPr/>
        </p:nvGrpSpPr>
        <p:grpSpPr>
          <a:xfrm>
            <a:off x="8252906" y="4044166"/>
            <a:ext cx="1922931" cy="1841499"/>
            <a:chOff x="4491317" y="1815352"/>
            <a:chExt cx="2111189" cy="1395255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76792ED-24D3-3B4D-B49E-B0F36988E9B0}"/>
                </a:ext>
              </a:extLst>
            </p:cNvPr>
            <p:cNvSpPr/>
            <p:nvPr/>
          </p:nvSpPr>
          <p:spPr>
            <a:xfrm>
              <a:off x="4491317" y="1815352"/>
              <a:ext cx="2111189" cy="672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PMO Owner*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80C699A-01A5-BD4E-A4CA-27CCBB674DCC}"/>
                </a:ext>
              </a:extLst>
            </p:cNvPr>
            <p:cNvSpPr txBox="1"/>
            <p:nvPr/>
          </p:nvSpPr>
          <p:spPr>
            <a:xfrm>
              <a:off x="4491317" y="2487705"/>
              <a:ext cx="2111189" cy="722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Manager or manager-delegate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Process approval</a:t>
              </a:r>
            </a:p>
            <a:p>
              <a:pPr marL="285750" indent="-285750">
                <a:buFont typeface="Wingdings" pitchFamily="2" charset="2"/>
                <a:buChar char="Ø"/>
              </a:pPr>
              <a:r>
                <a:rPr lang="en-US" sz="1400" dirty="0"/>
                <a:t>Define SLAs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3819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0E47-38D8-0C43-BDFB-6C818869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58" y="123135"/>
            <a:ext cx="10515600" cy="710640"/>
          </a:xfrm>
        </p:spPr>
        <p:txBody>
          <a:bodyPr/>
          <a:lstStyle/>
          <a:p>
            <a:r>
              <a:rPr lang="en-US" dirty="0"/>
              <a:t>Work Flow Template design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213A427-B275-5441-9CCA-640CF7DC4528}"/>
              </a:ext>
            </a:extLst>
          </p:cNvPr>
          <p:cNvGrpSpPr/>
          <p:nvPr/>
        </p:nvGrpSpPr>
        <p:grpSpPr>
          <a:xfrm>
            <a:off x="1573305" y="1411941"/>
            <a:ext cx="6790765" cy="4854388"/>
            <a:chOff x="1573305" y="1411941"/>
            <a:chExt cx="6790765" cy="4854388"/>
          </a:xfrm>
        </p:grpSpPr>
        <p:sp>
          <p:nvSpPr>
            <p:cNvPr id="45" name="Triangle 44">
              <a:extLst>
                <a:ext uri="{FF2B5EF4-FFF2-40B4-BE49-F238E27FC236}">
                  <a16:creationId xmlns:a16="http://schemas.microsoft.com/office/drawing/2014/main" id="{2E7D045D-1996-F745-908A-8876EA7D1B76}"/>
                </a:ext>
              </a:extLst>
            </p:cNvPr>
            <p:cNvSpPr/>
            <p:nvPr/>
          </p:nvSpPr>
          <p:spPr>
            <a:xfrm>
              <a:off x="1573305" y="1411941"/>
              <a:ext cx="6790765" cy="4854388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CA87ED8-C381-654D-9141-D00BD6BEB80E}"/>
                </a:ext>
              </a:extLst>
            </p:cNvPr>
            <p:cNvCxnSpPr>
              <a:cxnSpLocks/>
            </p:cNvCxnSpPr>
            <p:nvPr/>
          </p:nvCxnSpPr>
          <p:spPr>
            <a:xfrm>
              <a:off x="2312894" y="5197705"/>
              <a:ext cx="5298141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3B76AFF-4D8C-8946-8DCF-CD083F9075C1}"/>
                </a:ext>
              </a:extLst>
            </p:cNvPr>
            <p:cNvCxnSpPr>
              <a:cxnSpLocks/>
            </p:cNvCxnSpPr>
            <p:nvPr/>
          </p:nvCxnSpPr>
          <p:spPr>
            <a:xfrm>
              <a:off x="3079376" y="4157418"/>
              <a:ext cx="38055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2743FEC-251F-0346-8EE2-37C1B52340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44153" y="3341935"/>
              <a:ext cx="2716306" cy="110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29682A8-BF1B-374A-8CD1-D8814BE0592B}"/>
                </a:ext>
              </a:extLst>
            </p:cNvPr>
            <p:cNvSpPr txBox="1"/>
            <p:nvPr/>
          </p:nvSpPr>
          <p:spPr>
            <a:xfrm>
              <a:off x="4645065" y="2123668"/>
              <a:ext cx="10219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Vision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8191205-C9FD-944A-B9FE-F2EA188944B1}"/>
                </a:ext>
              </a:extLst>
            </p:cNvPr>
            <p:cNvSpPr txBox="1"/>
            <p:nvPr/>
          </p:nvSpPr>
          <p:spPr>
            <a:xfrm>
              <a:off x="3875224" y="3649589"/>
              <a:ext cx="21734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en-US" dirty="0"/>
                <a:t>Org Strategy, Objectives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8776857-803B-5A46-AD1F-79BAD6BA8078}"/>
                </a:ext>
              </a:extLst>
            </p:cNvPr>
            <p:cNvCxnSpPr>
              <a:cxnSpLocks/>
            </p:cNvCxnSpPr>
            <p:nvPr/>
          </p:nvCxnSpPr>
          <p:spPr>
            <a:xfrm>
              <a:off x="4982132" y="4182428"/>
              <a:ext cx="13449" cy="101527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FD6AEBB-79BB-B746-BA52-BF9E69A9F678}"/>
                </a:ext>
              </a:extLst>
            </p:cNvPr>
            <p:cNvSpPr txBox="1"/>
            <p:nvPr/>
          </p:nvSpPr>
          <p:spPr>
            <a:xfrm>
              <a:off x="3458363" y="4606011"/>
              <a:ext cx="14027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en-US" dirty="0"/>
                <a:t>Ops Planning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5D140C2-BC1E-944D-A709-314D764CD4B5}"/>
                </a:ext>
              </a:extLst>
            </p:cNvPr>
            <p:cNvSpPr txBox="1"/>
            <p:nvPr/>
          </p:nvSpPr>
          <p:spPr>
            <a:xfrm>
              <a:off x="5156054" y="4444842"/>
              <a:ext cx="14027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en-US" dirty="0"/>
                <a:t>Portfolio Management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13703B6-0028-4F41-9576-53E3986D81F9}"/>
                </a:ext>
              </a:extLst>
            </p:cNvPr>
            <p:cNvCxnSpPr>
              <a:cxnSpLocks/>
            </p:cNvCxnSpPr>
            <p:nvPr/>
          </p:nvCxnSpPr>
          <p:spPr>
            <a:xfrm>
              <a:off x="4047565" y="2697556"/>
              <a:ext cx="1809860" cy="30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07C7EB6-0826-8549-A63D-B5A6BE9918A1}"/>
                </a:ext>
              </a:extLst>
            </p:cNvPr>
            <p:cNvSpPr txBox="1"/>
            <p:nvPr/>
          </p:nvSpPr>
          <p:spPr>
            <a:xfrm>
              <a:off x="4484593" y="2838347"/>
              <a:ext cx="10219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Mission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9DBA267-AD37-9F45-8069-7C1E99923A53}"/>
                </a:ext>
              </a:extLst>
            </p:cNvPr>
            <p:cNvCxnSpPr>
              <a:cxnSpLocks/>
              <a:endCxn id="45" idx="3"/>
            </p:cNvCxnSpPr>
            <p:nvPr/>
          </p:nvCxnSpPr>
          <p:spPr>
            <a:xfrm flipH="1">
              <a:off x="4968688" y="5207699"/>
              <a:ext cx="13444" cy="10586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12B853C-C7C2-1D4C-8329-F8E38D7B7AD9}"/>
                </a:ext>
              </a:extLst>
            </p:cNvPr>
            <p:cNvSpPr txBox="1"/>
            <p:nvPr/>
          </p:nvSpPr>
          <p:spPr>
            <a:xfrm>
              <a:off x="2111185" y="5533881"/>
              <a:ext cx="25338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ctr"/>
              <a:r>
                <a:rPr lang="en-US" dirty="0"/>
                <a:t>On-Going Support - Continuous Improvement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A7E5433-BC1E-0249-851E-B86535E32D30}"/>
                </a:ext>
              </a:extLst>
            </p:cNvPr>
            <p:cNvSpPr txBox="1"/>
            <p:nvPr/>
          </p:nvSpPr>
          <p:spPr>
            <a:xfrm>
              <a:off x="5182945" y="5656991"/>
              <a:ext cx="2533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ctr"/>
              <a:r>
                <a:rPr lang="en-US" dirty="0"/>
                <a:t>Capability Enhancement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9326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0E47-38D8-0C43-BDFB-6C818869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79726"/>
            <a:ext cx="12191999" cy="71064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13844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2452</TotalTime>
  <Words>376</Words>
  <Application>Microsoft Macintosh PowerPoint</Application>
  <PresentationFormat>Widescreen</PresentationFormat>
  <Paragraphs>154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Organization Design</vt:lpstr>
      <vt:lpstr>Alignment</vt:lpstr>
      <vt:lpstr>Business IT Org Creation</vt:lpstr>
      <vt:lpstr>Cloud Business Drivers</vt:lpstr>
      <vt:lpstr>IT Operating Model</vt:lpstr>
      <vt:lpstr>Conceptual Model</vt:lpstr>
      <vt:lpstr>Cadence</vt:lpstr>
      <vt:lpstr>Roles</vt:lpstr>
      <vt:lpstr>Work Flow Template design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umashankar kotturu</dc:creator>
  <cp:lastModifiedBy>umashankar kotturu</cp:lastModifiedBy>
  <cp:revision>34</cp:revision>
  <dcterms:created xsi:type="dcterms:W3CDTF">2020-03-05T01:25:14Z</dcterms:created>
  <dcterms:modified xsi:type="dcterms:W3CDTF">2020-03-13T17:14:45Z</dcterms:modified>
</cp:coreProperties>
</file>