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431"/>
    <p:restoredTop sz="95153"/>
  </p:normalViewPr>
  <p:slideViewPr>
    <p:cSldViewPr snapToGrid="0" snapToObjects="1">
      <p:cViewPr varScale="1">
        <p:scale>
          <a:sx n="76" d="100"/>
          <a:sy n="76" d="100"/>
        </p:scale>
        <p:origin x="216" y="6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355A3-44D9-4F42-AD76-B46255B6F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AFA1E5-9EBD-024F-A9A4-5BD016E3A4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E203D5-EF39-5C44-A681-EEC5E1893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95535-9A43-784A-8384-2D119241C63A}" type="datetimeFigureOut">
              <a:rPr lang="en-US" smtClean="0"/>
              <a:t>3/7/20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A404C7-B128-E844-8D51-8E25E1B17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FFD9D4-6A2A-E44F-86E8-63024B47D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3E51B-755B-0C4D-9647-5418751F4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8098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247D6-474E-734F-984F-CC8B82C33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A9024A-F793-FF48-9386-07DF0B4F69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05F9BF-94E4-584E-9DC5-DD5DDBADC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95535-9A43-784A-8384-2D119241C63A}" type="datetimeFigureOut">
              <a:rPr lang="en-US" smtClean="0"/>
              <a:t>3/7/20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F596AA-6C99-3649-8206-9AA194453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EC2706-E12D-404B-9E4C-884B3DA58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3E51B-755B-0C4D-9647-5418751F4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346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DD3A5-8E4A-AD4B-94CD-9E957D90B0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64BFA6-0CB4-074C-B992-052D8EDC00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CA06EB-E73D-2B44-8C3E-6C8219B44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95535-9A43-784A-8384-2D119241C63A}" type="datetimeFigureOut">
              <a:rPr lang="en-US" smtClean="0"/>
              <a:t>3/7/20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A0B8EC-2968-174A-BAAB-9F0ACEB349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C6581E-2198-BF4A-A9FD-A0ABECC86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3E51B-755B-0C4D-9647-5418751F4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9822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C0C77-2CA3-4648-A09B-82D734DF8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8B96C0-CE54-144B-9540-5BB3334613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3E2456-AF76-E94A-B404-03AFCC0FD2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DA3FB7-B627-524A-A5C6-1A7B6DA535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95535-9A43-784A-8384-2D119241C63A}" type="datetimeFigureOut">
              <a:rPr lang="en-US" smtClean="0"/>
              <a:t>3/7/20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E36D39-246E-504D-B583-A320A98A8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045664-0CF2-F942-8923-8F71106DA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3E51B-755B-0C4D-9647-5418751F4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3284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DE21A-0CBA-2648-99FD-56B4C955E4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9AC2A3-DE37-D547-8868-ECC3E1E56E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CE653A-2762-5349-84CC-CC3C4F10A5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4A1840-E97A-8F4C-97CD-AE20A304DC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C5076C-54D5-394E-9AD8-ED93E70F1B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69C9D9E-9CFD-444F-A858-B517196046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95535-9A43-784A-8384-2D119241C63A}" type="datetimeFigureOut">
              <a:rPr lang="en-US" smtClean="0"/>
              <a:t>3/7/20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ADB98E-364F-6A4B-834D-F4DFDE70E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3C7175-85B3-9947-9883-CE91862E7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3E51B-755B-0C4D-9647-5418751F4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1164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588CB-2F32-8D4C-AF8B-96D35AF02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A1D979-1ACF-4742-8A8F-EA842C3846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95535-9A43-784A-8384-2D119241C63A}" type="datetimeFigureOut">
              <a:rPr lang="en-US" smtClean="0"/>
              <a:t>3/7/20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9F3C24-3CB6-6D4F-AD0B-1BC5323ED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C47132-16EE-8F4B-8187-6727BF2DD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3E51B-755B-0C4D-9647-5418751F4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0834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76D6C02-D525-4046-BB0E-8832B841A9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95535-9A43-784A-8384-2D119241C63A}" type="datetimeFigureOut">
              <a:rPr lang="en-US" smtClean="0"/>
              <a:t>3/7/20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A00FE1-43BE-024A-A8FB-282282D20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3E2FB8-0491-7E4E-ADCD-24F2207F2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3E51B-755B-0C4D-9647-5418751F4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0051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8D6F7-980D-6840-A6F9-01A9CF05D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1FC847-68C7-2045-B1F4-FCF84ECD92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A5FA2A-6476-CF4A-998D-EBEBA1E1EE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3606DA-3D2D-E047-8850-C6A1F1E95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95535-9A43-784A-8384-2D119241C63A}" type="datetimeFigureOut">
              <a:rPr lang="en-US" smtClean="0"/>
              <a:t>3/7/20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EDF380-5111-184C-94F3-13EB87ADBA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0366FA-D911-A746-88FB-0E2FA051A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3E51B-755B-0C4D-9647-5418751F4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5661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01255-83E5-E147-9029-02AD555BE3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78C09D6-B3DE-7D46-B411-B29192BAD1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E78ECB-4376-9F48-948E-C272E41924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B3EA67-4DEF-D24E-B14F-42433FD94F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95535-9A43-784A-8384-2D119241C63A}" type="datetimeFigureOut">
              <a:rPr lang="en-US" smtClean="0"/>
              <a:t>3/7/20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88F26E-36D3-B949-9653-5876D6F4A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BC94F5-C0B3-4044-BCC4-0B029EAE4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3E51B-755B-0C4D-9647-5418751F4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1640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EFC38-73E5-3C4F-BF61-63CBE3EB83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514878-C715-9944-B2CC-14FA88D392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C054C8-1899-D347-BD46-55E7C387E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95535-9A43-784A-8384-2D119241C63A}" type="datetimeFigureOut">
              <a:rPr lang="en-US" smtClean="0"/>
              <a:t>3/7/20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D4FBA-59A1-D642-AB2A-7B9146270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B9353A-AF61-9445-8717-E74E1B3E2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3E51B-755B-0C4D-9647-5418751F4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9702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2CED6E-0172-F646-A1BF-FC230C7479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A021F8-F03A-0047-978D-FC2810B35B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D9C17B-D863-4348-9ADC-424642346F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95535-9A43-784A-8384-2D119241C63A}" type="datetimeFigureOut">
              <a:rPr lang="en-US" smtClean="0"/>
              <a:t>3/7/20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4D5905-CF29-194F-B14A-0CCD071216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47EA00-6B93-5448-B2B5-9C4D4C64B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3E51B-755B-0C4D-9647-5418751F4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0564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AA16F9-E75C-AE41-B8EB-217C3F93C4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62E2B3-654E-5149-B6BE-A67F9789EB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CCCFED-4ADE-AE4B-926A-A3A5D4CA3B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095535-9A43-784A-8384-2D119241C63A}" type="datetimeFigureOut">
              <a:rPr lang="en-US" smtClean="0"/>
              <a:t>3/7/20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9F90AF-18B0-1A42-90CD-4864590373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0C7BAF-A447-3246-96F8-3424277205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93E51B-755B-0C4D-9647-5418751F4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5314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74B4FBFD-EFD1-7646-8F07-F7E7225EAC84}"/>
              </a:ext>
            </a:extLst>
          </p:cNvPr>
          <p:cNvSpPr/>
          <p:nvPr/>
        </p:nvSpPr>
        <p:spPr>
          <a:xfrm>
            <a:off x="282389" y="457201"/>
            <a:ext cx="1936376" cy="111041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Biz Value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5A600E7-21E9-5F42-A278-532AE923FEBE}"/>
              </a:ext>
            </a:extLst>
          </p:cNvPr>
          <p:cNvSpPr/>
          <p:nvPr/>
        </p:nvSpPr>
        <p:spPr>
          <a:xfrm>
            <a:off x="3472330" y="457201"/>
            <a:ext cx="1936376" cy="111041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Cloud Foundation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0712729-A93E-554A-82B6-1956A60C3F5D}"/>
              </a:ext>
            </a:extLst>
          </p:cNvPr>
          <p:cNvSpPr/>
          <p:nvPr/>
        </p:nvSpPr>
        <p:spPr>
          <a:xfrm>
            <a:off x="6662271" y="457201"/>
            <a:ext cx="1936376" cy="111041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Acceleration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C94E2C1-1BB1-4546-BC96-E3D3BDC369A0}"/>
              </a:ext>
            </a:extLst>
          </p:cNvPr>
          <p:cNvSpPr/>
          <p:nvPr/>
        </p:nvSpPr>
        <p:spPr>
          <a:xfrm>
            <a:off x="9852212" y="457201"/>
            <a:ext cx="1936376" cy="111041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Optimization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DFA828A-451E-8F4A-9190-DF38EAC9021F}"/>
              </a:ext>
            </a:extLst>
          </p:cNvPr>
          <p:cNvSpPr/>
          <p:nvPr/>
        </p:nvSpPr>
        <p:spPr>
          <a:xfrm>
            <a:off x="312817" y="3558331"/>
            <a:ext cx="1689311" cy="4706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400" dirty="0">
                <a:solidFill>
                  <a:schemeClr val="tx1"/>
                </a:solidFill>
              </a:rPr>
              <a:t>Economic Assessment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F2CA139-A9A2-3B48-A3BB-F0EC865D5C5E}"/>
              </a:ext>
            </a:extLst>
          </p:cNvPr>
          <p:cNvSpPr/>
          <p:nvPr/>
        </p:nvSpPr>
        <p:spPr>
          <a:xfrm>
            <a:off x="3483879" y="3346538"/>
            <a:ext cx="2057400" cy="29304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tx1"/>
                </a:solidFill>
              </a:rPr>
              <a:t>Security</a:t>
            </a:r>
          </a:p>
          <a:p>
            <a:endParaRPr lang="en-US" sz="1400" dirty="0">
              <a:solidFill>
                <a:schemeClr val="tx1"/>
              </a:solidFill>
            </a:endParaRPr>
          </a:p>
          <a:p>
            <a:r>
              <a:rPr lang="en-US" sz="1400" dirty="0">
                <a:solidFill>
                  <a:schemeClr val="tx1"/>
                </a:solidFill>
              </a:rPr>
              <a:t>Infrastructure Inventory</a:t>
            </a:r>
          </a:p>
          <a:p>
            <a:endParaRPr lang="en-US" sz="1400" dirty="0">
              <a:solidFill>
                <a:schemeClr val="tx1"/>
              </a:solidFill>
            </a:endParaRPr>
          </a:p>
          <a:p>
            <a:r>
              <a:rPr lang="en-US" sz="1400" dirty="0">
                <a:solidFill>
                  <a:schemeClr val="tx1"/>
                </a:solidFill>
              </a:rPr>
              <a:t>Workflow Process</a:t>
            </a:r>
          </a:p>
          <a:p>
            <a:endParaRPr lang="en-US" sz="1400" dirty="0">
              <a:solidFill>
                <a:schemeClr val="tx1"/>
              </a:solidFill>
            </a:endParaRPr>
          </a:p>
          <a:p>
            <a:r>
              <a:rPr lang="en-US" sz="1400" dirty="0">
                <a:solidFill>
                  <a:schemeClr val="tx1"/>
                </a:solidFill>
              </a:rPr>
              <a:t>Provisioning Controls</a:t>
            </a:r>
          </a:p>
          <a:p>
            <a:endParaRPr lang="en-US" sz="1400" dirty="0">
              <a:solidFill>
                <a:schemeClr val="tx1"/>
              </a:solidFill>
            </a:endParaRPr>
          </a:p>
          <a:p>
            <a:r>
              <a:rPr lang="en-US" sz="1400" dirty="0">
                <a:solidFill>
                  <a:schemeClr val="tx1"/>
                </a:solidFill>
              </a:rPr>
              <a:t>Costing &amp; Chargeback</a:t>
            </a:r>
          </a:p>
          <a:p>
            <a:r>
              <a:rPr lang="en-US" sz="1400" dirty="0">
                <a:solidFill>
                  <a:schemeClr val="tx1"/>
                </a:solidFill>
              </a:rPr>
              <a:t>Framework</a:t>
            </a:r>
          </a:p>
          <a:p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46741C7-75EA-EF4A-A6EA-11ECA855C3AD}"/>
              </a:ext>
            </a:extLst>
          </p:cNvPr>
          <p:cNvSpPr/>
          <p:nvPr/>
        </p:nvSpPr>
        <p:spPr>
          <a:xfrm>
            <a:off x="6627703" y="3346538"/>
            <a:ext cx="2057400" cy="29304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400" dirty="0">
                <a:solidFill>
                  <a:schemeClr val="tx1"/>
                </a:solidFill>
              </a:rPr>
              <a:t>Golden Image Repository </a:t>
            </a:r>
          </a:p>
          <a:p>
            <a:endParaRPr lang="en-US" sz="1400" dirty="0">
              <a:solidFill>
                <a:schemeClr val="tx1"/>
              </a:solidFill>
            </a:endParaRPr>
          </a:p>
          <a:p>
            <a:r>
              <a:rPr lang="en-US" sz="1400" dirty="0">
                <a:solidFill>
                  <a:schemeClr val="tx1"/>
                </a:solidFill>
              </a:rPr>
              <a:t>Cloud Native Reference Architecture</a:t>
            </a:r>
          </a:p>
          <a:p>
            <a:endParaRPr lang="en-US" sz="1400" dirty="0">
              <a:solidFill>
                <a:schemeClr val="tx1"/>
              </a:solidFill>
            </a:endParaRPr>
          </a:p>
          <a:p>
            <a:r>
              <a:rPr lang="en-US" sz="1400" dirty="0">
                <a:solidFill>
                  <a:schemeClr val="tx1"/>
                </a:solidFill>
              </a:rPr>
              <a:t>Migration Strategies</a:t>
            </a:r>
          </a:p>
          <a:p>
            <a:endParaRPr lang="en-US" sz="1400" dirty="0">
              <a:solidFill>
                <a:schemeClr val="tx1"/>
              </a:solidFill>
            </a:endParaRPr>
          </a:p>
          <a:p>
            <a:r>
              <a:rPr lang="en-US" sz="1400" dirty="0">
                <a:solidFill>
                  <a:schemeClr val="tx1"/>
                </a:solidFill>
              </a:rPr>
              <a:t>Modernization of Legacy Framework</a:t>
            </a:r>
          </a:p>
          <a:p>
            <a:endParaRPr lang="en-US" sz="1400" dirty="0">
              <a:solidFill>
                <a:schemeClr val="tx1"/>
              </a:solidFill>
            </a:endParaRPr>
          </a:p>
          <a:p>
            <a:r>
              <a:rPr lang="en-US" sz="1400" dirty="0">
                <a:solidFill>
                  <a:schemeClr val="tx1"/>
                </a:solidFill>
              </a:rPr>
              <a:t>Containerization</a:t>
            </a:r>
          </a:p>
          <a:p>
            <a:endParaRPr lang="en-US" sz="1400" dirty="0">
              <a:solidFill>
                <a:schemeClr val="tx1"/>
              </a:solidFill>
            </a:endParaRPr>
          </a:p>
          <a:p>
            <a:r>
              <a:rPr lang="en-US" sz="1400" dirty="0">
                <a:solidFill>
                  <a:schemeClr val="tx1"/>
                </a:solidFill>
              </a:rPr>
              <a:t>Work From Home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70F30DE-2294-F04E-8159-BA010ACE8B8A}"/>
              </a:ext>
            </a:extLst>
          </p:cNvPr>
          <p:cNvSpPr/>
          <p:nvPr/>
        </p:nvSpPr>
        <p:spPr>
          <a:xfrm>
            <a:off x="9524797" y="3275946"/>
            <a:ext cx="2057400" cy="227926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1511599-778D-B54C-8212-7B25E93B2D2F}"/>
              </a:ext>
            </a:extLst>
          </p:cNvPr>
          <p:cNvSpPr/>
          <p:nvPr/>
        </p:nvSpPr>
        <p:spPr>
          <a:xfrm>
            <a:off x="9524797" y="3275945"/>
            <a:ext cx="2057400" cy="227926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A22404E-2C74-4F44-9F3F-57377AB84CFA}"/>
              </a:ext>
            </a:extLst>
          </p:cNvPr>
          <p:cNvSpPr/>
          <p:nvPr/>
        </p:nvSpPr>
        <p:spPr>
          <a:xfrm>
            <a:off x="9742971" y="3346538"/>
            <a:ext cx="2522070" cy="227926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400" dirty="0">
                <a:solidFill>
                  <a:schemeClr val="tx1"/>
                </a:solidFill>
              </a:rPr>
              <a:t>Continuous Optimization</a:t>
            </a:r>
          </a:p>
          <a:p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4A63BB6-5C88-DB4B-BA44-87F57E8BB26E}"/>
              </a:ext>
            </a:extLst>
          </p:cNvPr>
          <p:cNvSpPr txBox="1"/>
          <p:nvPr/>
        </p:nvSpPr>
        <p:spPr>
          <a:xfrm>
            <a:off x="868100" y="1628430"/>
            <a:ext cx="76495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1-4 weeks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7AF8A06-FF75-DA4A-B618-472DA70937E7}"/>
              </a:ext>
            </a:extLst>
          </p:cNvPr>
          <p:cNvSpPr txBox="1"/>
          <p:nvPr/>
        </p:nvSpPr>
        <p:spPr>
          <a:xfrm>
            <a:off x="3911636" y="1588772"/>
            <a:ext cx="80823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8-12 weeks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68CEEAF-5EE9-1543-84E4-C9A6F357795C}"/>
              </a:ext>
            </a:extLst>
          </p:cNvPr>
          <p:cNvSpPr txBox="1"/>
          <p:nvPr/>
        </p:nvSpPr>
        <p:spPr>
          <a:xfrm>
            <a:off x="7376922" y="1588772"/>
            <a:ext cx="68640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1-3 years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32E3444-9540-414B-A413-80E7552F2B95}"/>
              </a:ext>
            </a:extLst>
          </p:cNvPr>
          <p:cNvSpPr txBox="1"/>
          <p:nvPr/>
        </p:nvSpPr>
        <p:spPr>
          <a:xfrm>
            <a:off x="10377176" y="1592660"/>
            <a:ext cx="68640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1-5 years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CD823DB2-7434-A64F-9090-47BA974AC3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2A8226BD-C4DD-E442-95BC-F2D964F2F411}"/>
              </a:ext>
            </a:extLst>
          </p:cNvPr>
          <p:cNvSpPr txBox="1"/>
          <p:nvPr/>
        </p:nvSpPr>
        <p:spPr>
          <a:xfrm>
            <a:off x="220674" y="2479711"/>
            <a:ext cx="1492716" cy="307777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Should I embark ?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1CCFF9D-6D7E-F54C-B8BD-BA56BBCE560F}"/>
              </a:ext>
            </a:extLst>
          </p:cNvPr>
          <p:cNvSpPr txBox="1"/>
          <p:nvPr/>
        </p:nvSpPr>
        <p:spPr>
          <a:xfrm>
            <a:off x="3574124" y="2341130"/>
            <a:ext cx="1967155" cy="52322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Help me with Best Practices, Standards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46FE144-E113-824B-B1D7-C454566F5B0B}"/>
              </a:ext>
            </a:extLst>
          </p:cNvPr>
          <p:cNvSpPr txBox="1"/>
          <p:nvPr/>
        </p:nvSpPr>
        <p:spPr>
          <a:xfrm>
            <a:off x="6662271" y="2316610"/>
            <a:ext cx="2460463" cy="52322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Empower &amp; Review Project Architecture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1A76785-00E6-1B44-8F80-42D50FB241B9}"/>
              </a:ext>
            </a:extLst>
          </p:cNvPr>
          <p:cNvSpPr txBox="1"/>
          <p:nvPr/>
        </p:nvSpPr>
        <p:spPr>
          <a:xfrm>
            <a:off x="9852211" y="2273872"/>
            <a:ext cx="2057399" cy="52322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Monitoring and Optimization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28E06C1-4512-2A42-BCB4-07E196C3FB40}"/>
              </a:ext>
            </a:extLst>
          </p:cNvPr>
          <p:cNvSpPr txBox="1"/>
          <p:nvPr/>
        </p:nvSpPr>
        <p:spPr>
          <a:xfrm>
            <a:off x="209265" y="6362011"/>
            <a:ext cx="16626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Big Consulting Firms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723DE71-CC3B-D449-A0C7-0B3ED5F8D92C}"/>
              </a:ext>
            </a:extLst>
          </p:cNvPr>
          <p:cNvSpPr txBox="1"/>
          <p:nvPr/>
        </p:nvSpPr>
        <p:spPr>
          <a:xfrm>
            <a:off x="6586721" y="6415684"/>
            <a:ext cx="18742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All Offshore companies</a:t>
            </a:r>
          </a:p>
        </p:txBody>
      </p:sp>
    </p:spTree>
    <p:extLst>
      <p:ext uri="{BB962C8B-B14F-4D97-AF65-F5344CB8AC3E}">
        <p14:creationId xmlns:p14="http://schemas.microsoft.com/office/powerpoint/2010/main" val="405304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74B4FBFD-EFD1-7646-8F07-F7E7225EAC84}"/>
              </a:ext>
            </a:extLst>
          </p:cNvPr>
          <p:cNvSpPr/>
          <p:nvPr/>
        </p:nvSpPr>
        <p:spPr>
          <a:xfrm>
            <a:off x="282389" y="457201"/>
            <a:ext cx="1936376" cy="111041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Biz Value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5A600E7-21E9-5F42-A278-532AE923FEBE}"/>
              </a:ext>
            </a:extLst>
          </p:cNvPr>
          <p:cNvSpPr/>
          <p:nvPr/>
        </p:nvSpPr>
        <p:spPr>
          <a:xfrm>
            <a:off x="3472330" y="457201"/>
            <a:ext cx="1936376" cy="111041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Cloud Foundation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0712729-A93E-554A-82B6-1956A60C3F5D}"/>
              </a:ext>
            </a:extLst>
          </p:cNvPr>
          <p:cNvSpPr/>
          <p:nvPr/>
        </p:nvSpPr>
        <p:spPr>
          <a:xfrm>
            <a:off x="6662271" y="457201"/>
            <a:ext cx="1936376" cy="111041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Acceleration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C94E2C1-1BB1-4546-BC96-E3D3BDC369A0}"/>
              </a:ext>
            </a:extLst>
          </p:cNvPr>
          <p:cNvSpPr/>
          <p:nvPr/>
        </p:nvSpPr>
        <p:spPr>
          <a:xfrm>
            <a:off x="9852212" y="457201"/>
            <a:ext cx="1936376" cy="111041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Optimization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DFA828A-451E-8F4A-9190-DF38EAC9021F}"/>
              </a:ext>
            </a:extLst>
          </p:cNvPr>
          <p:cNvSpPr/>
          <p:nvPr/>
        </p:nvSpPr>
        <p:spPr>
          <a:xfrm>
            <a:off x="350372" y="2075634"/>
            <a:ext cx="1689311" cy="4706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400" dirty="0">
                <a:solidFill>
                  <a:schemeClr val="tx1"/>
                </a:solidFill>
              </a:rPr>
              <a:t>Economic Assessment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F2CA139-A9A2-3B48-A3BB-F0EC865D5C5E}"/>
              </a:ext>
            </a:extLst>
          </p:cNvPr>
          <p:cNvSpPr/>
          <p:nvPr/>
        </p:nvSpPr>
        <p:spPr>
          <a:xfrm>
            <a:off x="3521434" y="1863841"/>
            <a:ext cx="2057400" cy="29304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tx1"/>
                </a:solidFill>
              </a:rPr>
              <a:t>Security</a:t>
            </a:r>
          </a:p>
          <a:p>
            <a:endParaRPr lang="en-US" sz="1400" dirty="0">
              <a:solidFill>
                <a:schemeClr val="tx1"/>
              </a:solidFill>
            </a:endParaRPr>
          </a:p>
          <a:p>
            <a:r>
              <a:rPr lang="en-US" sz="1400" dirty="0">
                <a:solidFill>
                  <a:schemeClr val="tx1"/>
                </a:solidFill>
              </a:rPr>
              <a:t>Infrastructure Inventory</a:t>
            </a:r>
          </a:p>
          <a:p>
            <a:endParaRPr lang="en-US" sz="1400" dirty="0">
              <a:solidFill>
                <a:schemeClr val="tx1"/>
              </a:solidFill>
            </a:endParaRPr>
          </a:p>
          <a:p>
            <a:r>
              <a:rPr lang="en-US" sz="1400" dirty="0">
                <a:solidFill>
                  <a:schemeClr val="tx1"/>
                </a:solidFill>
              </a:rPr>
              <a:t>Workflow Process</a:t>
            </a:r>
          </a:p>
          <a:p>
            <a:endParaRPr lang="en-US" sz="1400" dirty="0">
              <a:solidFill>
                <a:schemeClr val="tx1"/>
              </a:solidFill>
            </a:endParaRPr>
          </a:p>
          <a:p>
            <a:r>
              <a:rPr lang="en-US" sz="1400" dirty="0">
                <a:solidFill>
                  <a:schemeClr val="tx1"/>
                </a:solidFill>
              </a:rPr>
              <a:t>Provisioning Controls</a:t>
            </a:r>
          </a:p>
          <a:p>
            <a:endParaRPr lang="en-US" sz="1400" dirty="0">
              <a:solidFill>
                <a:schemeClr val="tx1"/>
              </a:solidFill>
            </a:endParaRPr>
          </a:p>
          <a:p>
            <a:r>
              <a:rPr lang="en-US" sz="1400" dirty="0">
                <a:solidFill>
                  <a:schemeClr val="tx1"/>
                </a:solidFill>
              </a:rPr>
              <a:t>Costing &amp; Chargeback</a:t>
            </a:r>
          </a:p>
          <a:p>
            <a:r>
              <a:rPr lang="en-US" sz="1400" dirty="0">
                <a:solidFill>
                  <a:schemeClr val="tx1"/>
                </a:solidFill>
              </a:rPr>
              <a:t>Framework</a:t>
            </a:r>
          </a:p>
          <a:p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70F30DE-2294-F04E-8159-BA010ACE8B8A}"/>
              </a:ext>
            </a:extLst>
          </p:cNvPr>
          <p:cNvSpPr/>
          <p:nvPr/>
        </p:nvSpPr>
        <p:spPr>
          <a:xfrm>
            <a:off x="9562352" y="1793249"/>
            <a:ext cx="2057400" cy="227926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1511599-778D-B54C-8212-7B25E93B2D2F}"/>
              </a:ext>
            </a:extLst>
          </p:cNvPr>
          <p:cNvSpPr/>
          <p:nvPr/>
        </p:nvSpPr>
        <p:spPr>
          <a:xfrm>
            <a:off x="9562352" y="1793248"/>
            <a:ext cx="2057400" cy="227926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4A63BB6-5C88-DB4B-BA44-87F57E8BB26E}"/>
              </a:ext>
            </a:extLst>
          </p:cNvPr>
          <p:cNvSpPr txBox="1"/>
          <p:nvPr/>
        </p:nvSpPr>
        <p:spPr>
          <a:xfrm>
            <a:off x="868100" y="1628430"/>
            <a:ext cx="76495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1-4 weeks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7AF8A06-FF75-DA4A-B618-472DA70937E7}"/>
              </a:ext>
            </a:extLst>
          </p:cNvPr>
          <p:cNvSpPr txBox="1"/>
          <p:nvPr/>
        </p:nvSpPr>
        <p:spPr>
          <a:xfrm>
            <a:off x="3911636" y="1588772"/>
            <a:ext cx="80823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8-12 weeks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68CEEAF-5EE9-1543-84E4-C9A6F357795C}"/>
              </a:ext>
            </a:extLst>
          </p:cNvPr>
          <p:cNvSpPr txBox="1"/>
          <p:nvPr/>
        </p:nvSpPr>
        <p:spPr>
          <a:xfrm>
            <a:off x="7376922" y="1588772"/>
            <a:ext cx="68640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1-3 years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32E3444-9540-414B-A413-80E7552F2B95}"/>
              </a:ext>
            </a:extLst>
          </p:cNvPr>
          <p:cNvSpPr txBox="1"/>
          <p:nvPr/>
        </p:nvSpPr>
        <p:spPr>
          <a:xfrm>
            <a:off x="10377176" y="1592660"/>
            <a:ext cx="68640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1-5 years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7600D90-0817-7643-9B6D-40A4ADC85621}"/>
              </a:ext>
            </a:extLst>
          </p:cNvPr>
          <p:cNvSpPr txBox="1"/>
          <p:nvPr/>
        </p:nvSpPr>
        <p:spPr>
          <a:xfrm>
            <a:off x="282389" y="5803316"/>
            <a:ext cx="131843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Accenture, EY, </a:t>
            </a:r>
          </a:p>
          <a:p>
            <a:r>
              <a:rPr lang="en-US" sz="1600" dirty="0"/>
              <a:t>McKinsey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89A4CB2-DDA7-4741-AA36-F5932B4F6FDF}"/>
              </a:ext>
            </a:extLst>
          </p:cNvPr>
          <p:cNvSpPr txBox="1"/>
          <p:nvPr/>
        </p:nvSpPr>
        <p:spPr>
          <a:xfrm>
            <a:off x="6971240" y="5923818"/>
            <a:ext cx="13184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Infosys, TCS </a:t>
            </a:r>
            <a:r>
              <a:rPr lang="en-US" sz="1600" dirty="0" err="1"/>
              <a:t>etc</a:t>
            </a:r>
            <a:endParaRPr lang="en-US" sz="16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E3DBE37-447F-4B45-96E1-4E5BF46042E7}"/>
              </a:ext>
            </a:extLst>
          </p:cNvPr>
          <p:cNvSpPr txBox="1"/>
          <p:nvPr/>
        </p:nvSpPr>
        <p:spPr>
          <a:xfrm>
            <a:off x="3626814" y="5923818"/>
            <a:ext cx="13184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Infosys, TCS </a:t>
            </a:r>
            <a:r>
              <a:rPr lang="en-US" sz="1600" dirty="0" err="1"/>
              <a:t>etc</a:t>
            </a:r>
            <a:endParaRPr lang="en-US" sz="1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6A1C00-D62A-4748-A766-A06B2427822A}"/>
              </a:ext>
            </a:extLst>
          </p:cNvPr>
          <p:cNvSpPr txBox="1"/>
          <p:nvPr/>
        </p:nvSpPr>
        <p:spPr>
          <a:xfrm>
            <a:off x="282389" y="5015313"/>
            <a:ext cx="13692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Should I embark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01EF4EF-0023-2445-A5AF-B50C5473A92A}"/>
              </a:ext>
            </a:extLst>
          </p:cNvPr>
          <p:cNvSpPr txBox="1"/>
          <p:nvPr/>
        </p:nvSpPr>
        <p:spPr>
          <a:xfrm>
            <a:off x="3574124" y="4876732"/>
            <a:ext cx="142381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Help me with Best Practices, Standards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82E3FD6-42C4-FB4E-86E9-16DCEF414592}"/>
              </a:ext>
            </a:extLst>
          </p:cNvPr>
          <p:cNvSpPr txBox="1"/>
          <p:nvPr/>
        </p:nvSpPr>
        <p:spPr>
          <a:xfrm>
            <a:off x="6662271" y="4852212"/>
            <a:ext cx="24604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Reference Architecture &amp; Empower Project Teams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802BB93-A664-FB49-8721-4465C9205717}"/>
              </a:ext>
            </a:extLst>
          </p:cNvPr>
          <p:cNvSpPr txBox="1"/>
          <p:nvPr/>
        </p:nvSpPr>
        <p:spPr>
          <a:xfrm>
            <a:off x="9852212" y="4809474"/>
            <a:ext cx="19363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Load Balancing and Optimization</a:t>
            </a:r>
          </a:p>
        </p:txBody>
      </p:sp>
    </p:spTree>
    <p:extLst>
      <p:ext uri="{BB962C8B-B14F-4D97-AF65-F5344CB8AC3E}">
        <p14:creationId xmlns:p14="http://schemas.microsoft.com/office/powerpoint/2010/main" val="22751647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4703</TotalTime>
  <Words>131</Words>
  <Application>Microsoft Macintosh PowerPoint</Application>
  <PresentationFormat>Widescreen</PresentationFormat>
  <Paragraphs>64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umashankar kotturu</dc:creator>
  <cp:lastModifiedBy>umashankar kotturu</cp:lastModifiedBy>
  <cp:revision>8</cp:revision>
  <dcterms:created xsi:type="dcterms:W3CDTF">2020-03-07T16:27:11Z</dcterms:created>
  <dcterms:modified xsi:type="dcterms:W3CDTF">2020-03-10T22:50:13Z</dcterms:modified>
</cp:coreProperties>
</file>